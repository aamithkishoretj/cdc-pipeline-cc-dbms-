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66" r:id="rId6"/>
    <p:sldId id="277" r:id="rId22"/>
    <p:sldId id="278" r:id="rId23"/>
    <p:sldId id="269" r:id="rId7"/>
    <p:sldId id="26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027991-2F07-4F96-B1C6-107263F3CE80}" v="2" dt="2026-10-13T10:55:36.1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wathy Sreekumar - [CEN - ASAI]" userId="b3c1aa58-c106-4f88-88ea-3055d21dc445" providerId="ADAL" clId="{5B164AC5-E01D-4441-90D0-4360FBA49630}"/>
    <pc:docChg chg="addSld delSld modSld">
      <pc:chgData name="Aswathy Sreekumar - [CEN - ASAI]" userId="b3c1aa58-c106-4f88-88ea-3055d21dc445" providerId="ADAL" clId="{5B164AC5-E01D-4441-90D0-4360FBA49630}" dt="2026-10-13T11:08:54.286" v="58" actId="14100"/>
      <pc:docMkLst>
        <pc:docMk/>
      </pc:docMkLst>
      <pc:sldChg chg="addSp modSp mod">
        <pc:chgData name="Aswathy Sreekumar - [CEN - ASAI]" userId="b3c1aa58-c106-4f88-88ea-3055d21dc445" providerId="ADAL" clId="{5B164AC5-E01D-4441-90D0-4360FBA49630}" dt="2026-10-13T10:52:49.730" v="30" actId="14100"/>
        <pc:sldMkLst>
          <pc:docMk/>
          <pc:sldMk cId="3292820169" sldId="257"/>
        </pc:sldMkLst>
        <pc:graphicFrameChg chg="add mod modGraphic">
          <ac:chgData name="Aswathy Sreekumar - [CEN - ASAI]" userId="b3c1aa58-c106-4f88-88ea-3055d21dc445" providerId="ADAL" clId="{5B164AC5-E01D-4441-90D0-4360FBA49630}" dt="2026-10-13T10:52:49.730" v="30" actId="14100"/>
          <ac:graphicFrameMkLst>
            <pc:docMk/>
            <pc:sldMk cId="3292820169" sldId="257"/>
            <ac:graphicFrameMk id="2" creationId="{DEE1715A-84A1-A11F-4C84-5112CD8BD376}"/>
          </ac:graphicFrameMkLst>
        </pc:graphicFrameChg>
      </pc:sldChg>
      <pc:sldChg chg="del">
        <pc:chgData name="Aswathy Sreekumar - [CEN - ASAI]" userId="b3c1aa58-c106-4f88-88ea-3055d21dc445" providerId="ADAL" clId="{5B164AC5-E01D-4441-90D0-4360FBA49630}" dt="2026-10-13T10:52:52.147" v="31" actId="47"/>
        <pc:sldMkLst>
          <pc:docMk/>
          <pc:sldMk cId="2876923024" sldId="258"/>
        </pc:sldMkLst>
      </pc:sldChg>
      <pc:sldChg chg="del">
        <pc:chgData name="Aswathy Sreekumar - [CEN - ASAI]" userId="b3c1aa58-c106-4f88-88ea-3055d21dc445" providerId="ADAL" clId="{5B164AC5-E01D-4441-90D0-4360FBA49630}" dt="2026-10-13T10:52:56.399" v="32" actId="47"/>
        <pc:sldMkLst>
          <pc:docMk/>
          <pc:sldMk cId="2029237179" sldId="259"/>
        </pc:sldMkLst>
      </pc:sldChg>
      <pc:sldChg chg="modSp mod">
        <pc:chgData name="Aswathy Sreekumar - [CEN - ASAI]" userId="b3c1aa58-c106-4f88-88ea-3055d21dc445" providerId="ADAL" clId="{5B164AC5-E01D-4441-90D0-4360FBA49630}" dt="2026-10-13T10:55:46.990" v="37" actId="2710"/>
        <pc:sldMkLst>
          <pc:docMk/>
          <pc:sldMk cId="1850165588" sldId="261"/>
        </pc:sldMkLst>
        <pc:spChg chg="mod">
          <ac:chgData name="Aswathy Sreekumar - [CEN - ASAI]" userId="b3c1aa58-c106-4f88-88ea-3055d21dc445" providerId="ADAL" clId="{5B164AC5-E01D-4441-90D0-4360FBA49630}" dt="2026-10-13T10:55:46.990" v="37" actId="2710"/>
          <ac:spMkLst>
            <pc:docMk/>
            <pc:sldMk cId="1850165588" sldId="261"/>
            <ac:spMk id="3" creationId="{A531F2BE-E9BB-CFA7-4CF2-F8DBEAF88D73}"/>
          </ac:spMkLst>
        </pc:spChg>
      </pc:sldChg>
      <pc:sldChg chg="del">
        <pc:chgData name="Aswathy Sreekumar - [CEN - ASAI]" userId="b3c1aa58-c106-4f88-88ea-3055d21dc445" providerId="ADAL" clId="{5B164AC5-E01D-4441-90D0-4360FBA49630}" dt="2026-10-13T10:55:50.019" v="38" actId="47"/>
        <pc:sldMkLst>
          <pc:docMk/>
          <pc:sldMk cId="1856641003" sldId="262"/>
        </pc:sldMkLst>
      </pc:sldChg>
      <pc:sldChg chg="del">
        <pc:chgData name="Aswathy Sreekumar - [CEN - ASAI]" userId="b3c1aa58-c106-4f88-88ea-3055d21dc445" providerId="ADAL" clId="{5B164AC5-E01D-4441-90D0-4360FBA49630}" dt="2026-10-13T10:55:52.552" v="39" actId="47"/>
        <pc:sldMkLst>
          <pc:docMk/>
          <pc:sldMk cId="3504888759" sldId="263"/>
        </pc:sldMkLst>
      </pc:sldChg>
      <pc:sldChg chg="del">
        <pc:chgData name="Aswathy Sreekumar - [CEN - ASAI]" userId="b3c1aa58-c106-4f88-88ea-3055d21dc445" providerId="ADAL" clId="{5B164AC5-E01D-4441-90D0-4360FBA49630}" dt="2026-10-13T10:56:47.088" v="40" actId="47"/>
        <pc:sldMkLst>
          <pc:docMk/>
          <pc:sldMk cId="3342667635" sldId="264"/>
        </pc:sldMkLst>
      </pc:sldChg>
      <pc:sldChg chg="del">
        <pc:chgData name="Aswathy Sreekumar - [CEN - ASAI]" userId="b3c1aa58-c106-4f88-88ea-3055d21dc445" providerId="ADAL" clId="{5B164AC5-E01D-4441-90D0-4360FBA49630}" dt="2026-10-13T10:56:49.988" v="41" actId="47"/>
        <pc:sldMkLst>
          <pc:docMk/>
          <pc:sldMk cId="3530030300" sldId="265"/>
        </pc:sldMkLst>
      </pc:sldChg>
      <pc:sldChg chg="modSp mod">
        <pc:chgData name="Aswathy Sreekumar - [CEN - ASAI]" userId="b3c1aa58-c106-4f88-88ea-3055d21dc445" providerId="ADAL" clId="{5B164AC5-E01D-4441-90D0-4360FBA49630}" dt="2026-10-13T10:57:35.144" v="49" actId="20577"/>
        <pc:sldMkLst>
          <pc:docMk/>
          <pc:sldMk cId="230239099" sldId="266"/>
        </pc:sldMkLst>
        <pc:spChg chg="mod">
          <ac:chgData name="Aswathy Sreekumar - [CEN - ASAI]" userId="b3c1aa58-c106-4f88-88ea-3055d21dc445" providerId="ADAL" clId="{5B164AC5-E01D-4441-90D0-4360FBA49630}" dt="2026-10-13T10:57:35.144" v="49" actId="20577"/>
          <ac:spMkLst>
            <pc:docMk/>
            <pc:sldMk cId="230239099" sldId="266"/>
            <ac:spMk id="3" creationId="{5F458A85-15CC-54E5-F079-FE1181C8F397}"/>
          </ac:spMkLst>
        </pc:spChg>
      </pc:sldChg>
      <pc:sldChg chg="del">
        <pc:chgData name="Aswathy Sreekumar - [CEN - ASAI]" userId="b3c1aa58-c106-4f88-88ea-3055d21dc445" providerId="ADAL" clId="{5B164AC5-E01D-4441-90D0-4360FBA49630}" dt="2026-10-13T10:56:55.044" v="42" actId="47"/>
        <pc:sldMkLst>
          <pc:docMk/>
          <pc:sldMk cId="3320080006" sldId="267"/>
        </pc:sldMkLst>
      </pc:sldChg>
      <pc:sldChg chg="addSp modSp new mod">
        <pc:chgData name="Aswathy Sreekumar - [CEN - ASAI]" userId="b3c1aa58-c106-4f88-88ea-3055d21dc445" providerId="ADAL" clId="{5B164AC5-E01D-4441-90D0-4360FBA49630}" dt="2026-10-13T11:08:54.286" v="58" actId="14100"/>
        <pc:sldMkLst>
          <pc:docMk/>
          <pc:sldMk cId="527201399" sldId="269"/>
        </pc:sldMkLst>
        <pc:spChg chg="add mod">
          <ac:chgData name="Aswathy Sreekumar - [CEN - ASAI]" userId="b3c1aa58-c106-4f88-88ea-3055d21dc445" providerId="ADAL" clId="{5B164AC5-E01D-4441-90D0-4360FBA49630}" dt="2026-10-13T11:08:54.286" v="58" actId="14100"/>
          <ac:spMkLst>
            <pc:docMk/>
            <pc:sldMk cId="527201399" sldId="269"/>
            <ac:spMk id="3" creationId="{2678BFD2-E2FE-42D3-F25D-424B4D75D75C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A6C0A-D5F6-AB81-43DE-88E9948F81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5798CE-68E1-C89D-543E-21144CB6AA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A8C6B-94F0-6EB8-00CA-1AAF8056A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C5F1D-ACC1-485E-993F-679869D1C13D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37C2EB-9B31-B6C1-7DF5-BC6608AF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BE46B-1FFD-0D1B-754D-66129868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99440-1C3D-44FF-9D87-638639B66A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52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B7AFD-7C6E-33E4-005C-A2B49F3F4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12FE6-0B5A-5A6B-2F98-4D5EAA938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6AC422-3DDB-9425-FF66-CE063865C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C5F1D-ACC1-485E-993F-679869D1C13D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7F005-93CD-1800-7E05-A2096CA97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C26F3-89BA-AD1B-A191-FE9F0BD88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99440-1C3D-44FF-9D87-638639B66A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434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75075-0E8C-A298-A19D-96666BBDC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7DBAC-4D36-DF50-F656-F8BA143B26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86904-A66D-A215-6CCE-37E1BFABB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C5F1D-ACC1-485E-993F-679869D1C13D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6B1C4-EF4A-E5FC-E105-1C90C79FD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DB5BD5-D765-54F9-A68E-950231988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99440-1C3D-44FF-9D87-638639B66A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956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BD904-F9D5-9296-AD75-59910199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DB9CB8-4884-904C-29DC-A2984C303C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8EBB23-0455-90E3-86B1-8504D39E19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0D8CF1-1C06-74FA-066B-86EEDDC61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C5F1D-ACC1-485E-993F-679869D1C13D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2D8D3E-3672-4B30-2C42-D0AADE4A0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092943-30AF-1760-4EF5-93186F474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99440-1C3D-44FF-9D87-638639B66A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219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28F87-E42A-9FB7-04DF-1A3C5795E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72D96-6B4D-5DDA-6497-5DFD815C6C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AE828-D48F-3C4C-83C9-2E90069F6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3FF6C5-0D8D-EBCA-7374-551158E97C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A7F956-F667-0B2A-11D3-9F8EA6E7D1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2E9B30-CDE1-A131-B618-CFD28954E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C5F1D-ACC1-485E-993F-679869D1C13D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37441B-8946-282F-3058-BC87BF03E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835438-20C4-ABC4-2880-2AABD58E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99440-1C3D-44FF-9D87-638639B66A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104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DDEAC-A027-AF39-3138-89EA5D880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986F5D-7A5A-CB14-BE77-6C18BACB2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C5F1D-ACC1-485E-993F-679869D1C13D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B6E95D-06CE-31FF-B34D-5C98D22BF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EAFD1F-CB87-9D33-533B-CC30827AE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99440-1C3D-44FF-9D87-638639B66A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878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16EE-A675-3080-0FA1-4A3031ED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C5F1D-ACC1-485E-993F-679869D1C13D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167CF6-E5EA-BEC9-27D5-4F6D7BC4A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31FDC9-D9D0-F959-462A-00663242F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99440-1C3D-44FF-9D87-638639B66A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004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2EBF6-914D-9CBA-6500-D8C1A6D70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4105D-214B-F383-55A7-30C31F188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C6461D-C330-00FA-0BC7-9D5373AE02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25CD7-5C77-9AA3-7CA3-8A587615C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C5F1D-ACC1-485E-993F-679869D1C13D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8FDDAA-BB5C-C923-332D-2A2768B2A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97C015-4541-998F-7137-92450FC4A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99440-1C3D-44FF-9D87-638639B66A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54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BB277-98C0-4BA1-B07D-433FD8BF4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8C8283-DEB5-F117-47A9-21B2D19493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C3F843-2C90-F839-62E5-D10BC0AA74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41E60C-B262-9AA4-5511-F7F107114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C5F1D-ACC1-485E-993F-679869D1C13D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8B2B4-6062-530C-6B8D-0B7D237CB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24B56-B061-58AF-E81D-B809E0194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99440-1C3D-44FF-9D87-638639B66A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935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4F4BC-331C-555A-D19B-E6B6FCA31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3AC5D4-9EEB-A2BE-B5FA-4069D13EC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1B4AEE-4C08-0ECB-CEC0-7A29D61CA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C5F1D-ACC1-485E-993F-679869D1C13D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947458-6AE5-FC47-5752-D8CBD80AF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776DE2-23C5-A411-A333-842F8BA70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99440-1C3D-44FF-9D87-638639B66A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21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E672DC-4291-6EDB-2532-571B7671A4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04DF8F-7692-6D41-B9E5-66BA5AAD8D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AEEDA-96A5-99A1-CFC1-4F4770CAA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C5F1D-ACC1-485E-993F-679869D1C13D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D04064-98BD-B23A-F794-8E172868F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E548B-D108-816E-4957-A79163B28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99440-1C3D-44FF-9D87-638639B66A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4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ED3ED1-0D56-C0D2-9F13-F1C2B5AF9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51F9D-A8BF-931E-3CD9-349C0CAB7D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59E098-36DB-F2D4-A2EB-B0E2388C7B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1C5F1D-ACC1-485E-993F-679869D1C13D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D4334-980A-45D8-E18C-CAC89A936B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761B6-9B05-D034-B51F-ED3D1F4EA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899440-1C3D-44FF-9D87-638639B66A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44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4B5A6-0504-DE05-284A-C315B1809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z="4400"/>
              <a:t>Real-Time CDC Pipeline for</a:t>
            </a:r>
            <a:br/>
            <a:r>
              <a:rPr sz="4400"/>
              <a:t>an E-Commerce Database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6E4B16-00B0-FB82-E876-F2B5F288BD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z="1800" b="1"/>
              <a:t>PostgreSQL · Debezium · Kafka · Redis  |  22AIE303 Database Management Systems</a:t>
            </a:r>
          </a:p>
          <a:p>
            <a:r>
              <a:rPr lang="en-US" dirty="0" sz="1800" b="1">
                <a:solidFill>
                  <a:srgbClr val="A02B93"/>
                </a:solidFill>
              </a:rPr>
              <a:t>Team Number: ____</a:t>
            </a:r>
          </a:p>
          <a:p>
            <a:r>
              <a:rPr lang="en-US" dirty="0" sz="1800"/>
              <a:t>Aamith Kishore T J – CB.SC.U4AIE24001     Naveen U – CB.SC.U4AIE24035</a:t>
            </a:r>
          </a:p>
          <a:p>
            <a:r>
              <a:rPr lang="en-US" dirty="0" sz="1800"/>
              <a:t>Ragav S – CB.SC.U4AIE24041     Padmesh Sivalingam – CB.SC.U4AIE24044</a:t>
            </a:r>
          </a:p>
        </p:txBody>
      </p:sp>
    </p:spTree>
    <p:extLst>
      <p:ext uri="{BB962C8B-B14F-4D97-AF65-F5344CB8AC3E}">
        <p14:creationId xmlns:p14="http://schemas.microsoft.com/office/powerpoint/2010/main" val="3869315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Problem Statement &amp;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Times New Roman"/>
              </a:rPr>
              <a:t>What problem the system solves, the existing difficulties, and why the system is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76072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9047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000" b="1" i="0">
                <a:solidFill>
                  <a:srgbClr val="A02B93"/>
                </a:solidFill>
                <a:latin typeface="Times New Roman"/>
              </a:rPr>
              <a:t>Problem and existing difficulties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5486400" cy="4526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700" b="1" i="0">
                <a:solidFill>
                  <a:srgbClr val="A02B93"/>
                </a:solidFill>
                <a:latin typeface="Times New Roman"/>
              </a:rPr>
              <a:t>Heavy reads on the OLTP database.</a:t>
            </a:r>
            <a:r>
              <a:rPr sz="1700" b="0" i="0">
                <a:solidFill>
                  <a:srgbClr val="1A1A1A"/>
                </a:solidFill>
                <a:latin typeface="Times New Roman"/>
              </a:rPr>
              <a:t> An online shop serves far more reads (order tracking, history, product pages) than writes, and showing one order needs a </a:t>
            </a:r>
            <a:r>
              <a:rPr sz="1700" b="1" i="0">
                <a:solidFill>
                  <a:srgbClr val="A02B93"/>
                </a:solidFill>
                <a:latin typeface="Times New Roman"/>
              </a:rPr>
              <a:t>6-table JOIN</a:t>
            </a:r>
            <a:r>
              <a:rPr sz="1700" b="0" i="0">
                <a:solidFill>
                  <a:srgbClr val="1A1A1A"/>
                </a:solidFill>
                <a:latin typeface="Times New Roman"/>
              </a:rPr>
              <a:t>.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700" b="1" i="0">
                <a:solidFill>
                  <a:srgbClr val="A02B93"/>
                </a:solidFill>
                <a:latin typeface="Times New Roman"/>
              </a:rPr>
              <a:t>Reads and writes compete.</a:t>
            </a:r>
            <a:r>
              <a:rPr sz="1700" b="0" i="0">
                <a:solidFill>
                  <a:srgbClr val="1A1A1A"/>
                </a:solidFill>
                <a:latin typeface="Times New Roman"/>
              </a:rPr>
              <a:t> With concurrent writers, PostgreSQL read latency almost doubles (1.24 → 2.20 ms per order).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700" b="1" i="0">
                <a:solidFill>
                  <a:srgbClr val="A02B93"/>
                </a:solidFill>
                <a:latin typeface="Times New Roman"/>
              </a:rPr>
              <a:t>Dual-write problem.</a:t>
            </a:r>
            <a:r>
              <a:rPr sz="1700" b="0" i="0">
                <a:solidFill>
                  <a:srgbClr val="1A1A1A"/>
                </a:solidFill>
                <a:latin typeface="Times New Roman"/>
              </a:rPr>
              <a:t> The usual fix writes to the database and a cache separately. A crash between the two writes leaves the cache </a:t>
            </a:r>
            <a:r>
              <a:rPr sz="1700" b="1" i="0">
                <a:solidFill>
                  <a:srgbClr val="A02B93"/>
                </a:solidFill>
                <a:latin typeface="Times New Roman"/>
              </a:rPr>
              <a:t>permanently wrong</a:t>
            </a:r>
            <a:r>
              <a:rPr sz="1700" b="0" i="0">
                <a:solidFill>
                  <a:srgbClr val="1A1A1A"/>
                </a:solidFill>
                <a:latin typeface="Times New Roman"/>
              </a:rPr>
              <a:t>, and nothing repairs it.</a:t>
            </a:r>
          </a:p>
          <a:p>
            <a:pPr algn="l">
              <a:buNone/>
              <a:spcAft>
                <a:spcPts val="0"/>
              </a:spcAft>
            </a:pPr>
            <a:r>
              <a:rPr sz="1700" b="1" i="0">
                <a:solidFill>
                  <a:srgbClr val="A02B93"/>
                </a:solidFill>
                <a:latin typeface="Times New Roman"/>
              </a:rPr>
              <a:t>Why the system is needed:</a:t>
            </a:r>
            <a:r>
              <a:rPr sz="1700" b="0" i="0">
                <a:solidFill>
                  <a:srgbClr val="1A1A1A"/>
                </a:solidFill>
                <a:latin typeface="Times New Roman"/>
              </a:rPr>
              <a:t> the application must write to exactly one database, reads must not load it, and the fast copy must always converge to the truth.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417320"/>
            <a:ext cx="512064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75120" y="1490472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000" b="1" i="0">
                <a:solidFill>
                  <a:srgbClr val="A02B93"/>
                </a:solidFill>
                <a:latin typeface="Times New Roman"/>
              </a:rPr>
              <a:t>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874519"/>
            <a:ext cx="4846320" cy="4526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19456">
              <a:spcAft>
                <a:spcPts val="600"/>
              </a:spcAft>
              <a:buAutoNum type="arabicPeriod"/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Model the shop with an </a:t>
            </a:r>
            <a:r>
              <a:rPr sz="1700" b="1" i="0">
                <a:solidFill>
                  <a:srgbClr val="A02B93"/>
                </a:solidFill>
                <a:latin typeface="Times New Roman"/>
              </a:rPr>
              <a:t>ER diagram</a:t>
            </a:r>
            <a:r>
              <a:rPr sz="1700" b="0" i="0">
                <a:solidFill>
                  <a:srgbClr val="1A1A1A"/>
                </a:solidFill>
                <a:latin typeface="Times New Roman"/>
              </a:rPr>
              <a:t> and map it to a relational schema (CO2)</a:t>
            </a:r>
          </a:p>
          <a:p>
            <a:pPr algn="l" marL="256032" indent="-219456">
              <a:spcAft>
                <a:spcPts val="600"/>
              </a:spcAft>
              <a:buAutoNum type="arabicPeriod"/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Normalize to </a:t>
            </a:r>
            <a:r>
              <a:rPr sz="1700" b="1" i="0">
                <a:solidFill>
                  <a:srgbClr val="A02B93"/>
                </a:solidFill>
                <a:latin typeface="Times New Roman"/>
              </a:rPr>
              <a:t>3NF / BCNF</a:t>
            </a:r>
            <a:r>
              <a:rPr sz="1700" b="0" i="0">
                <a:solidFill>
                  <a:srgbClr val="1A1A1A"/>
                </a:solidFill>
                <a:latin typeface="Times New Roman"/>
              </a:rPr>
              <a:t> with functional-dependency proof (CO3)</a:t>
            </a:r>
          </a:p>
          <a:p>
            <a:pPr algn="l" marL="256032" indent="-219456">
              <a:spcAft>
                <a:spcPts val="600"/>
              </a:spcAft>
              <a:buAutoNum type="arabicPeriod"/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Implement constraints, triggers and </a:t>
            </a:r>
            <a:r>
              <a:rPr sz="1700" b="1" i="0">
                <a:solidFill>
                  <a:srgbClr val="A02B93"/>
                </a:solidFill>
                <a:latin typeface="Times New Roman"/>
              </a:rPr>
              <a:t>advanced SQL</a:t>
            </a:r>
            <a:r>
              <a:rPr sz="1700" b="0" i="0">
                <a:solidFill>
                  <a:srgbClr val="1A1A1A"/>
                </a:solidFill>
                <a:latin typeface="Times New Roman"/>
              </a:rPr>
              <a:t> queries (CO1)</a:t>
            </a:r>
          </a:p>
          <a:p>
            <a:pPr algn="l" marL="256032" indent="-219456">
              <a:spcAft>
                <a:spcPts val="600"/>
              </a:spcAft>
              <a:buAutoNum type="arabicPeriod"/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Guarantee </a:t>
            </a:r>
            <a:r>
              <a:rPr sz="1700" b="1" i="0">
                <a:solidFill>
                  <a:srgbClr val="A02B93"/>
                </a:solidFill>
                <a:latin typeface="Times New Roman"/>
              </a:rPr>
              <a:t>ACID transactions</a:t>
            </a:r>
            <a:r>
              <a:rPr sz="1700" b="0" i="0">
                <a:solidFill>
                  <a:srgbClr val="1A1A1A"/>
                </a:solidFill>
                <a:latin typeface="Times New Roman"/>
              </a:rPr>
              <a:t> and concurrency control for orders (CO4)</a:t>
            </a:r>
          </a:p>
          <a:p>
            <a:pPr algn="l" marL="256032" indent="-219456">
              <a:spcAft>
                <a:spcPts val="600"/>
              </a:spcAft>
              <a:buAutoNum type="arabicPeriod"/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Use the </a:t>
            </a:r>
            <a:r>
              <a:rPr sz="1700" b="1" i="0">
                <a:solidFill>
                  <a:srgbClr val="A02B93"/>
                </a:solidFill>
                <a:latin typeface="Times New Roman"/>
              </a:rPr>
              <a:t>right high-level databases</a:t>
            </a:r>
            <a:r>
              <a:rPr sz="1700" b="0" i="0">
                <a:solidFill>
                  <a:srgbClr val="1A1A1A"/>
                </a:solidFill>
                <a:latin typeface="Times New Roman"/>
              </a:rPr>
              <a:t>: Redis read model fed through Kafka by Change Data Capture (CO5)</a:t>
            </a:r>
          </a:p>
          <a:p>
            <a:pPr algn="l" marL="256032" indent="-219456">
              <a:spcAft>
                <a:spcPts val="600"/>
              </a:spcAft>
              <a:buAutoNum type="arabicPeriod"/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Build a Flask + HTML/JS web application that demonstrates every operation</a:t>
            </a:r>
          </a:p>
        </p:txBody>
      </p:sp>
    </p:spTree>
    <p:extLst>
      <p:ext uri="{BB962C8B-B14F-4D97-AF65-F5344CB8AC3E}">
        <p14:creationId xmlns:p14="http://schemas.microsoft.com/office/powerpoint/2010/main" val="32928201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E88F3-15D6-A352-A8A2-606DEEB2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UML Diagram: Use Case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Times New Roman"/>
              </a:rPr>
              <a:t>ShopDB order system: actors, use cases and «include» relationships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2331720" y="1371600"/>
            <a:ext cx="7635240" cy="5257800"/>
          </a:xfrm>
          <a:prstGeom prst="rect">
            <a:avLst/>
          </a:prstGeom>
          <a:noFill/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423160" y="14173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Times New Roman"/>
              </a:rPr>
              <a:t>ShopDB Order System</a:t>
            </a:r>
          </a:p>
        </p:txBody>
      </p:sp>
      <p:sp>
        <p:nvSpPr>
          <p:cNvPr id="7" name="Oval 6"/>
          <p:cNvSpPr/>
          <p:nvPr/>
        </p:nvSpPr>
        <p:spPr>
          <a:xfrm>
            <a:off x="2560320" y="1783080"/>
            <a:ext cx="210312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Browse Products</a:t>
            </a:r>
          </a:p>
        </p:txBody>
      </p:sp>
      <p:sp>
        <p:nvSpPr>
          <p:cNvPr id="8" name="Oval 7"/>
          <p:cNvSpPr/>
          <p:nvPr/>
        </p:nvSpPr>
        <p:spPr>
          <a:xfrm>
            <a:off x="2560320" y="2697480"/>
            <a:ext cx="210312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Place Order</a:t>
            </a:r>
          </a:p>
        </p:txBody>
      </p:sp>
      <p:sp>
        <p:nvSpPr>
          <p:cNvPr id="9" name="Oval 8"/>
          <p:cNvSpPr/>
          <p:nvPr/>
        </p:nvSpPr>
        <p:spPr>
          <a:xfrm>
            <a:off x="2560320" y="3611880"/>
            <a:ext cx="210312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Track Order</a:t>
            </a:r>
          </a:p>
        </p:txBody>
      </p:sp>
      <p:sp>
        <p:nvSpPr>
          <p:cNvPr id="10" name="Oval 9"/>
          <p:cNvSpPr/>
          <p:nvPr/>
        </p:nvSpPr>
        <p:spPr>
          <a:xfrm>
            <a:off x="2560320" y="4526280"/>
            <a:ext cx="210312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View Order History</a:t>
            </a:r>
          </a:p>
        </p:txBody>
      </p:sp>
      <p:sp>
        <p:nvSpPr>
          <p:cNvPr id="11" name="Oval 10"/>
          <p:cNvSpPr/>
          <p:nvPr/>
        </p:nvSpPr>
        <p:spPr>
          <a:xfrm>
            <a:off x="5006340" y="1783080"/>
            <a:ext cx="196596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Record Status History</a:t>
            </a:r>
          </a:p>
        </p:txBody>
      </p:sp>
      <p:sp>
        <p:nvSpPr>
          <p:cNvPr id="12" name="Oval 11"/>
          <p:cNvSpPr/>
          <p:nvPr/>
        </p:nvSpPr>
        <p:spPr>
          <a:xfrm>
            <a:off x="5006340" y="2697480"/>
            <a:ext cx="196596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Make Payment</a:t>
            </a:r>
          </a:p>
        </p:txBody>
      </p:sp>
      <p:sp>
        <p:nvSpPr>
          <p:cNvPr id="13" name="Oval 12"/>
          <p:cNvSpPr/>
          <p:nvPr/>
        </p:nvSpPr>
        <p:spPr>
          <a:xfrm>
            <a:off x="5006340" y="3611880"/>
            <a:ext cx="196596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Update Stock</a:t>
            </a:r>
          </a:p>
        </p:txBody>
      </p:sp>
      <p:sp>
        <p:nvSpPr>
          <p:cNvPr id="14" name="Oval 13"/>
          <p:cNvSpPr/>
          <p:nvPr/>
        </p:nvSpPr>
        <p:spPr>
          <a:xfrm>
            <a:off x="5006340" y="5623560"/>
            <a:ext cx="196596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Sync Read Model (Redis)</a:t>
            </a:r>
          </a:p>
        </p:txBody>
      </p:sp>
      <p:sp>
        <p:nvSpPr>
          <p:cNvPr id="15" name="Oval 14"/>
          <p:cNvSpPr/>
          <p:nvPr/>
        </p:nvSpPr>
        <p:spPr>
          <a:xfrm>
            <a:off x="7520940" y="1783080"/>
            <a:ext cx="224028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Update Order Status</a:t>
            </a:r>
          </a:p>
        </p:txBody>
      </p:sp>
      <p:sp>
        <p:nvSpPr>
          <p:cNvPr id="16" name="Oval 15"/>
          <p:cNvSpPr/>
          <p:nvPr/>
        </p:nvSpPr>
        <p:spPr>
          <a:xfrm>
            <a:off x="7520940" y="2468880"/>
            <a:ext cx="224028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Delete Order &amp; Restock</a:t>
            </a:r>
          </a:p>
        </p:txBody>
      </p:sp>
      <p:sp>
        <p:nvSpPr>
          <p:cNvPr id="17" name="Oval 16"/>
          <p:cNvSpPr/>
          <p:nvPr/>
        </p:nvSpPr>
        <p:spPr>
          <a:xfrm>
            <a:off x="7520940" y="3154680"/>
            <a:ext cx="224028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Manage Products &amp; Stock</a:t>
            </a:r>
          </a:p>
        </p:txBody>
      </p:sp>
      <p:sp>
        <p:nvSpPr>
          <p:cNvPr id="18" name="Oval 17"/>
          <p:cNvSpPr/>
          <p:nvPr/>
        </p:nvSpPr>
        <p:spPr>
          <a:xfrm>
            <a:off x="7520940" y="3840480"/>
            <a:ext cx="224028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Manage Customers</a:t>
            </a:r>
          </a:p>
        </p:txBody>
      </p:sp>
      <p:sp>
        <p:nvSpPr>
          <p:cNvPr id="19" name="Oval 18"/>
          <p:cNvSpPr/>
          <p:nvPr/>
        </p:nvSpPr>
        <p:spPr>
          <a:xfrm>
            <a:off x="7520940" y="4526280"/>
            <a:ext cx="224028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View Sales Reports</a:t>
            </a:r>
          </a:p>
        </p:txBody>
      </p:sp>
      <p:sp>
        <p:nvSpPr>
          <p:cNvPr id="20" name="Oval 19"/>
          <p:cNvSpPr/>
          <p:nvPr/>
        </p:nvSpPr>
        <p:spPr>
          <a:xfrm>
            <a:off x="7520940" y="5212080"/>
            <a:ext cx="2240280" cy="548640"/>
          </a:xfrm>
          <a:prstGeom prst="ellipse">
            <a:avLst/>
          </a:prstGeom>
          <a:solidFill>
            <a:srgbClr val="F8F0F7"/>
          </a:solidFill>
          <a:ln w="15875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0" i="0">
                <a:solidFill>
                  <a:srgbClr val="1A1A1A"/>
                </a:solidFill>
                <a:latin typeface="Times New Roman"/>
              </a:rPr>
              <a:t>Monitor Pipeline</a:t>
            </a:r>
          </a:p>
        </p:txBody>
      </p:sp>
      <p:sp>
        <p:nvSpPr>
          <p:cNvPr id="21" name="Oval 20"/>
          <p:cNvSpPr/>
          <p:nvPr/>
        </p:nvSpPr>
        <p:spPr>
          <a:xfrm>
            <a:off x="1033272" y="2377440"/>
            <a:ext cx="310896" cy="310896"/>
          </a:xfrm>
          <a:prstGeom prst="ellipse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188720" y="2688336"/>
            <a:ext cx="0" cy="557784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96112" y="2880360"/>
            <a:ext cx="585216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941832" y="3246120"/>
            <a:ext cx="246888" cy="36576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88720" y="3246120"/>
            <a:ext cx="246888" cy="36576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" y="3657600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Times New Roman"/>
              </a:rPr>
              <a:t>Customer</a:t>
            </a:r>
          </a:p>
        </p:txBody>
      </p:sp>
      <p:sp>
        <p:nvSpPr>
          <p:cNvPr id="27" name="Oval 26"/>
          <p:cNvSpPr/>
          <p:nvPr/>
        </p:nvSpPr>
        <p:spPr>
          <a:xfrm>
            <a:off x="10817352" y="2743200"/>
            <a:ext cx="310896" cy="310896"/>
          </a:xfrm>
          <a:prstGeom prst="ellipse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0972800" y="3054096"/>
            <a:ext cx="0" cy="557784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680192" y="3246120"/>
            <a:ext cx="585216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0725912" y="3611880"/>
            <a:ext cx="246888" cy="365759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972800" y="3611880"/>
            <a:ext cx="246888" cy="365759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875520" y="4023360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Times New Roman"/>
              </a:rPr>
              <a:t>Shop Admin</a:t>
            </a:r>
          </a:p>
        </p:txBody>
      </p:sp>
      <p:sp>
        <p:nvSpPr>
          <p:cNvPr id="33" name="Oval 32"/>
          <p:cNvSpPr/>
          <p:nvPr/>
        </p:nvSpPr>
        <p:spPr>
          <a:xfrm>
            <a:off x="1033272" y="4846320"/>
            <a:ext cx="310896" cy="310896"/>
          </a:xfrm>
          <a:prstGeom prst="ellipse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188720" y="5157216"/>
            <a:ext cx="0" cy="557784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96112" y="5349240"/>
            <a:ext cx="585216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41832" y="5715000"/>
            <a:ext cx="246888" cy="36576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88720" y="5715000"/>
            <a:ext cx="246888" cy="36576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1440" y="6126479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Times New Roman"/>
              </a:rPr>
              <a:t>CDC Pipeline</a:t>
            </a:r>
          </a:p>
          <a:p>
            <a:pPr algn="ctr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Times New Roman"/>
              </a:rPr>
              <a:t>(Debezium + Consumer)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1463040" y="2057400"/>
            <a:ext cx="1097280" cy="86868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463040" y="2926080"/>
            <a:ext cx="1097280" cy="4572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463040" y="2926080"/>
            <a:ext cx="1097280" cy="96012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463040" y="2926080"/>
            <a:ext cx="1097280" cy="187452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9761219" y="2057400"/>
            <a:ext cx="937261" cy="123444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9761219" y="2743200"/>
            <a:ext cx="937261" cy="54864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9761219" y="3291840"/>
            <a:ext cx="937261" cy="13716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9761219" y="3291840"/>
            <a:ext cx="937261" cy="82296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9761219" y="3291840"/>
            <a:ext cx="937261" cy="150876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9761219" y="3291840"/>
            <a:ext cx="937261" cy="219456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463040" y="5394959"/>
            <a:ext cx="3543300" cy="502921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663440" y="2971800"/>
            <a:ext cx="342900" cy="0"/>
          </a:xfrm>
          <a:prstGeom prst="line">
            <a:avLst/>
          </a:prstGeom>
          <a:ln w="15875">
            <a:solidFill>
              <a:srgbClr val="A02B9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377690" y="2670048"/>
            <a:ext cx="9144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1000" b="0" i="1">
                <a:solidFill>
                  <a:srgbClr val="A02B93"/>
                </a:solidFill>
                <a:latin typeface="Times New Roman"/>
              </a:rPr>
              <a:t>«include»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663440" y="2971800"/>
            <a:ext cx="342900" cy="914400"/>
          </a:xfrm>
          <a:prstGeom prst="line">
            <a:avLst/>
          </a:prstGeom>
          <a:ln w="15875">
            <a:solidFill>
              <a:srgbClr val="A02B9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331970" y="3127248"/>
            <a:ext cx="9144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1000" b="0" i="1">
                <a:solidFill>
                  <a:srgbClr val="A02B93"/>
                </a:solidFill>
                <a:latin typeface="Times New Roman"/>
              </a:rPr>
              <a:t>«include»</a:t>
            </a:r>
          </a:p>
        </p:txBody>
      </p:sp>
      <p:cxnSp>
        <p:nvCxnSpPr>
          <p:cNvPr id="54" name="Connector 53"/>
          <p:cNvCxnSpPr/>
          <p:nvPr/>
        </p:nvCxnSpPr>
        <p:spPr>
          <a:xfrm flipH="1">
            <a:off x="6972300" y="2057400"/>
            <a:ext cx="548640" cy="0"/>
          </a:xfrm>
          <a:prstGeom prst="line">
            <a:avLst/>
          </a:prstGeom>
          <a:ln w="15875">
            <a:solidFill>
              <a:srgbClr val="A02B9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789420" y="1755648"/>
            <a:ext cx="9144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1000" b="0" i="1">
                <a:solidFill>
                  <a:srgbClr val="A02B93"/>
                </a:solidFill>
                <a:latin typeface="Times New Roman"/>
              </a:rPr>
              <a:t>«include»</a:t>
            </a:r>
          </a:p>
        </p:txBody>
      </p:sp>
    </p:spTree>
    <p:extLst>
      <p:ext uri="{BB962C8B-B14F-4D97-AF65-F5344CB8AC3E}">
        <p14:creationId xmlns:p14="http://schemas.microsoft.com/office/powerpoint/2010/main" val="3398072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D3550-CA14-6FD8-F972-395E64156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Database Design: ER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Times New Roman"/>
              </a:rPr>
              <a:t>7 entities with attributes, keys and relationship cardinalities (crow's-foot notation)</a:t>
            </a:r>
          </a:p>
        </p:txBody>
      </p:sp>
      <p:pic>
        <p:nvPicPr>
          <p:cNvPr id="5" name="Picture 4" descr="er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11018520" cy="5038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655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627CB-8F21-443E-5AA9-617BD1667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Work Completed &amp;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Times New Roman"/>
              </a:rPr>
              <a:t>What has been completed for the final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649224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44752"/>
            <a:ext cx="6217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850" b="1" i="0">
                <a:solidFill>
                  <a:srgbClr val="A02B93"/>
                </a:solidFill>
                <a:latin typeface="Times New Roman"/>
              </a:rPr>
              <a:t>Completed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217920" cy="4709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550" b="0" i="0">
                <a:solidFill>
                  <a:srgbClr val="1A1A1A"/>
                </a:solidFill>
                <a:latin typeface="Times New Roman"/>
              </a:rPr>
              <a:t>ER model, relational schema and 3NF/BCNF design of 7 tables with seed data (200 customers, 1,200+ orders)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550" b="0" i="0">
                <a:solidFill>
                  <a:srgbClr val="1A1A1A"/>
                </a:solidFill>
                <a:latin typeface="Times New Roman"/>
              </a:rPr>
              <a:t>DDL with PK, FK, CHECK, UNIQUE, ON DELETE CASCADE, indexes, 3 triggers and least-privilege roles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550" b="0" i="0">
                <a:solidFill>
                  <a:srgbClr val="1A1A1A"/>
                </a:solidFill>
                <a:latin typeface="Times New Roman"/>
              </a:rPr>
              <a:t>Write API (Flask) with ACID transactions, row locking and parameterized queries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550" b="0" i="0">
                <a:solidFill>
                  <a:srgbClr val="1A1A1A"/>
                </a:solidFill>
                <a:latin typeface="Times New Roman"/>
              </a:rPr>
              <a:t>Change Data Capture: Debezium → 3-broker Kafka → consumer → Redis read model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550" b="0" i="0">
                <a:solidFill>
                  <a:srgbClr val="1A1A1A"/>
                </a:solidFill>
                <a:latin typeface="Times New Roman"/>
              </a:rPr>
              <a:t>Read API (Redis only) and web app: Shop, Orders, How it works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550" b="0" i="0">
                <a:solidFill>
                  <a:srgbClr val="1A1A1A"/>
                </a:solidFill>
                <a:latin typeface="Times New Roman"/>
              </a:rPr>
              <a:t>Advanced SQL queries, benchmark, consistency check and dual-write failure demo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550" b="0" i="0">
                <a:solidFill>
                  <a:srgbClr val="1A1A1A"/>
                </a:solidFill>
                <a:latin typeface="Times New Roman"/>
              </a:rPr>
              <a:t>15 automated end-to-end tests; Grafana monitoring; deployed with Docker on Microsoft Azure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371600"/>
            <a:ext cx="4389120" cy="1188720"/>
          </a:xfrm>
          <a:prstGeom prst="roundRect">
            <a:avLst>
              <a:gd name="adj" fmla="val 6000"/>
            </a:avLst>
          </a:prstGeom>
          <a:solidFill>
            <a:srgbClr val="F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06640" y="1463040"/>
            <a:ext cx="1737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A02B93"/>
                </a:solidFill>
                <a:latin typeface="Times New Roman"/>
              </a:rPr>
              <a:t>15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9720" y="1463040"/>
            <a:ext cx="237744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Times New Roman"/>
              </a:rPr>
              <a:t>end-to-end tests passed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80" y="2697480"/>
            <a:ext cx="4389120" cy="1188720"/>
          </a:xfrm>
          <a:prstGeom prst="roundRect">
            <a:avLst>
              <a:gd name="adj" fmla="val 6000"/>
            </a:avLst>
          </a:prstGeom>
          <a:solidFill>
            <a:srgbClr val="F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06640" y="2788920"/>
            <a:ext cx="1737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A02B93"/>
                </a:solidFill>
                <a:latin typeface="Times New Roman"/>
              </a:rPr>
              <a:t>11.1×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2788920"/>
            <a:ext cx="237744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Times New Roman"/>
              </a:rPr>
              <a:t>faster reads from Redis than the 6-table JOIN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4023360"/>
            <a:ext cx="4389120" cy="1188720"/>
          </a:xfrm>
          <a:prstGeom prst="roundRect">
            <a:avLst>
              <a:gd name="adj" fmla="val 6000"/>
            </a:avLst>
          </a:prstGeom>
          <a:solidFill>
            <a:srgbClr val="F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06640" y="4114800"/>
            <a:ext cx="1737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A02B93"/>
                </a:solidFill>
                <a:latin typeface="Times New Roman"/>
              </a:rPr>
              <a:t>≈ 245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4114800"/>
            <a:ext cx="237744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Times New Roman"/>
              </a:rPr>
              <a:t>commit → Redis (p95)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9480" y="5349240"/>
            <a:ext cx="4389120" cy="1188720"/>
          </a:xfrm>
          <a:prstGeom prst="roundRect">
            <a:avLst>
              <a:gd name="adj" fmla="val 6000"/>
            </a:avLst>
          </a:prstGeom>
          <a:solidFill>
            <a:srgbClr val="F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406640" y="5440679"/>
            <a:ext cx="1737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A02B93"/>
                </a:solidFill>
                <a:latin typeface="Times New Roman"/>
              </a:rPr>
              <a:t>30 /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5440679"/>
            <a:ext cx="237744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Times New Roman"/>
              </a:rPr>
              <a:t>orders survived a Kafka broker failure</a:t>
            </a:r>
          </a:p>
        </p:txBody>
      </p:sp>
    </p:spTree>
    <p:extLst>
      <p:ext uri="{BB962C8B-B14F-4D97-AF65-F5344CB8AC3E}">
        <p14:creationId xmlns:p14="http://schemas.microsoft.com/office/powerpoint/2010/main" val="230239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Conclusion and Possible Future Enhancements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576072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26187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900" b="1" i="0">
                <a:solidFill>
                  <a:srgbClr val="A02B93"/>
                </a:solidFill>
                <a:latin typeface="Times New Roman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5486400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A normalized (BCNF) PostgreSQL schema with constraints, triggers and ACID transactions is the single source of truth.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Change Data Capture removes the dual-write problem: the application writes once, and Redis is derived from the log.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Reads are 11.1× faster and never load the transactional database; all 15 tests pass.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60" y="1188720"/>
            <a:ext cx="512064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75120" y="1261872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900" b="1" i="0">
                <a:solidFill>
                  <a:srgbClr val="A02B93"/>
                </a:solidFill>
                <a:latin typeface="Times New Roman"/>
              </a:rPr>
              <a:t>Future enhancements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4846320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Table partitioning and materialized views for reporting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User authentication with row-level security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Managed cloud databases (Azure Database for PostgreSQL, Azure Cache for Redis)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Use the change stream for ML features: demand forecasting and recommendations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00600"/>
            <a:ext cx="11109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Times New Roman"/>
              </a:rPr>
              <a:t>Course outcomes covered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21208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CO1: SQL &amp; PL/pgSQL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521208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CO2: ER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521208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CO3: Normalization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24344" y="521208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CO4: Transactions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82912" y="521208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CO5: Right database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1109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Times New Roman"/>
              </a:rPr>
              <a:t>GitHub: github.com/aamithkishoretj/CDC-pipeline-CC-DBMS-</a:t>
            </a:r>
          </a:p>
        </p:txBody>
      </p:sp>
    </p:spTree>
    <p:extLst>
      <p:ext uri="{BB962C8B-B14F-4D97-AF65-F5344CB8AC3E}">
        <p14:creationId xmlns:p14="http://schemas.microsoft.com/office/powerpoint/2010/main" val="527201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7C55B3-47D4-DA03-73DB-7B493CF0D79C}"/>
              </a:ext>
            </a:extLst>
          </p:cNvPr>
          <p:cNvSpPr/>
          <p:nvPr/>
        </p:nvSpPr>
        <p:spPr>
          <a:xfrm>
            <a:off x="4135048" y="2967335"/>
            <a:ext cx="392190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THANK YOU</a:t>
            </a:r>
            <a:endParaRPr lang="en-U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36583950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Database Design: Relational Schema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Times New Roman"/>
              </a:rPr>
              <a:t>Primary keys (bold), foreign keys and constraints of the 7 relations in shopdb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109958" cy="4023360"/>
        </p:xfrm>
        <a:graphic>
          <a:graphicData uri="http://schemas.openxmlformats.org/drawingml/2006/table">
            <a:tbl>
              <a:tblPr firstRow="0" bandRow="0"/>
              <a:tblGrid>
                <a:gridCol w="1503968"/>
                <a:gridCol w="3493087"/>
                <a:gridCol w="2813876"/>
                <a:gridCol w="3299027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Relation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Attributes (PK in bold)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Foreign keys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Constraints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categories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A02B93"/>
                          </a:solidFill>
                          <a:latin typeface="Times New Roman"/>
                        </a:rPr>
                        <a:t>category_id</a:t>
                      </a:r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, name, description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-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name UNIQUE, NOT NULL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customers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A02B93"/>
                          </a:solidFill>
                          <a:latin typeface="Times New Roman"/>
                        </a:rPr>
                        <a:t>customer_id</a:t>
                      </a:r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, name, email, phone, address, city, created_at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-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email UNIQUE + CHECK (valid format)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products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A02B93"/>
                          </a:solidFill>
                          <a:latin typeface="Times New Roman"/>
                        </a:rPr>
                        <a:t>product_id</a:t>
                      </a:r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, category_id, name, description, price, stock, updated_at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category_id → categories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CHECK price &gt; 0, stock ≥ 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orders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A02B93"/>
                          </a:solidFill>
                          <a:latin typeface="Times New Roman"/>
                        </a:rPr>
                        <a:t>order_id</a:t>
                      </a:r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, customer_id, order_date, status, total_amount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customer_id → customers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CHECK status IN (pending, processing, shipped, delivered); total ≥ 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order_items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A02B93"/>
                          </a:solidFill>
                          <a:latin typeface="Times New Roman"/>
                        </a:rPr>
                        <a:t>order_item_id</a:t>
                      </a:r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, order_id, product_id, quantity, unit_price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order_id → orders ON DELETE CASCADE; product_id → products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CHECK quantity &gt; 0; UNIQUE (order_id, product_id)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payments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A02B93"/>
                          </a:solidFill>
                          <a:latin typeface="Times New Roman"/>
                        </a:rPr>
                        <a:t>payment_id</a:t>
                      </a:r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, order_id, method, amount, status, paid_at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order_id → orders ON DELETE CASCADE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CHECK method IN (card, upi, netbanking, cod); amount ≥ 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order_status_history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A02B93"/>
                          </a:solidFill>
                          <a:latin typeface="Times New Roman"/>
                        </a:rPr>
                        <a:t>history_id</a:t>
                      </a:r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, order_id, old_status, new_status, changed_at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order_id → orders ON DELETE CASCADE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Written only by a trigger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86400"/>
            <a:ext cx="11109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A02B93"/>
                </a:solidFill>
                <a:latin typeface="Times New Roman"/>
              </a:rPr>
              <a:t>Relationships:</a:t>
            </a:r>
            <a:r>
              <a:rPr sz="1400" b="0" i="0">
                <a:solidFill>
                  <a:srgbClr val="1A1A1A"/>
                </a:solidFill>
                <a:latin typeface="Times New Roman"/>
              </a:rPr>
              <a:t> customers 1 : N orders · orders 1 : N order_items N : 1 products (orders M : N products) · categories 1 : N products · orders 1 : N payments · orders 1 : N order_status_history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Times New Roman"/>
              </a:rPr>
              <a:t>Every FK column is NOT NULL; money uses DECIMAL(10,2); B-tree indexes on every FK and on orders.status.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Normalization: Functional Dependencies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Times New Roman"/>
              </a:rPr>
              <a:t>Every determinant is a candidate key, so every relation is in BCNF (and therefore 3NF)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109958" cy="3657600"/>
        </p:xfrm>
        <a:graphic>
          <a:graphicData uri="http://schemas.openxmlformats.org/drawingml/2006/table">
            <a:tbl>
              <a:tblPr firstRow="0" bandRow="0"/>
              <a:tblGrid>
                <a:gridCol w="1656748"/>
                <a:gridCol w="6042258"/>
                <a:gridCol w="2533850"/>
                <a:gridCol w="87710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Relation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Functional dependencies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Candidate keys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NF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categories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category_id → name, description;   name → category_id, description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{category_id}, {name}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BCNF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customers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customer_id → name, email, phone, address, city, created_at;   email → customer_id, …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{customer_id}, {email}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BCNF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products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product_id → category_id, name, description, price, stock, updated_at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{product_id}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BCNF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orders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order_id → customer_id, order_date, status, total_amount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{order_id}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BCNF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order_items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order_item_id → order_id, product_id, quantity, unit_price;   (order_id, product_id) → order_item_id, quantity, unit_price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{order_item_id}, {order_id, product_id}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BCNF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payments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payment_id → order_id, method, amount, status, paid_at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{payment_id}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BCNF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order_status_history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history_id → order_id, old_status, new_status, changed_at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{history_id}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Times New Roman"/>
                        </a:rPr>
                        <a:t>BCNF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66360"/>
            <a:ext cx="548640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1NF: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all values atomic; the repeating group of items is its own relation (order_items).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2NF: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no partial dependency; quantity and unit_price need the whole key (order_id, product_id).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5166360"/>
            <a:ext cx="548640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3NF / BCNF: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no transitive dependency; customer and category details live only in their own tables.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unit_price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is the price at purchase time, not a copy of products.price; </a:t>
            </a:r>
            <a:r>
              <a:rPr sz="1300" b="1" i="0">
                <a:solidFill>
                  <a:srgbClr val="A02B93"/>
                </a:solidFill>
                <a:latin typeface="Times New Roman"/>
              </a:rPr>
              <a:t>total_amount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is kept correct by a trigger in the same transaction.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Normalization: From an Order Sheet to 7 Relations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Times New Roman"/>
              </a:rPr>
              <a:t>Decomposition step by step, removing the dependencies that cause anomalies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606040" cy="457200"/>
          </a:xfrm>
          <a:prstGeom prst="roundRect">
            <a:avLst>
              <a:gd name="adj" fmla="val 6000"/>
            </a:avLst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Times New Roman"/>
              </a:rPr>
              <a:t>UNF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6060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242316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Times New Roman"/>
              </a:rPr>
              <a:t>OrderSheet(order_id, date, customer_name, email, city, </a:t>
            </a:r>
            <a:r>
              <a:rPr sz="1400" b="1" i="0">
                <a:solidFill>
                  <a:srgbClr val="A02B93"/>
                </a:solidFill>
                <a:latin typeface="Times New Roman"/>
              </a:rPr>
              <a:t>{product, category, qty, price}</a:t>
            </a:r>
            <a:r>
              <a:rPr sz="1400" b="0" i="0">
                <a:solidFill>
                  <a:srgbClr val="1A1A1A"/>
                </a:solidFill>
                <a:latin typeface="Times New Roman"/>
              </a:rPr>
              <a:t>, pay_method, status)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Repeating group of products inside one order row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72968" y="3017520"/>
            <a:ext cx="192024" cy="0"/>
          </a:xfrm>
          <a:prstGeom prst="line">
            <a:avLst/>
          </a:prstGeom>
          <a:ln w="31750">
            <a:solidFill>
              <a:srgbClr val="A02B9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383280" y="1463040"/>
            <a:ext cx="2606040" cy="457200"/>
          </a:xfrm>
          <a:prstGeom prst="roundRect">
            <a:avLst>
              <a:gd name="adj" fmla="val 6000"/>
            </a:avLst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Times New Roman"/>
              </a:rPr>
              <a:t>1NF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011680"/>
            <a:ext cx="26060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74720" y="2103120"/>
            <a:ext cx="242316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Times New Roman"/>
              </a:rPr>
              <a:t>OrderLine(</a:t>
            </a:r>
            <a:r>
              <a:rPr sz="1400" b="1" i="0">
                <a:solidFill>
                  <a:srgbClr val="A02B93"/>
                </a:solidFill>
                <a:latin typeface="Times New Roman"/>
              </a:rPr>
              <a:t>order_id, product_id</a:t>
            </a:r>
            <a:r>
              <a:rPr sz="1400" b="0" i="0">
                <a:solidFill>
                  <a:srgbClr val="1A1A1A"/>
                </a:solidFill>
                <a:latin typeface="Times New Roman"/>
              </a:rPr>
              <a:t>, date, customer_id, customer_name, email, city, product_name, category, qty, unit_price, pay_method, status)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160520"/>
            <a:ext cx="26060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One row per item. Key = (order_id, product_id)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07608" y="3017520"/>
            <a:ext cx="192024" cy="0"/>
          </a:xfrm>
          <a:prstGeom prst="line">
            <a:avLst/>
          </a:prstGeom>
          <a:ln w="31750">
            <a:solidFill>
              <a:srgbClr val="A02B9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17920" y="1463040"/>
            <a:ext cx="2606040" cy="457200"/>
          </a:xfrm>
          <a:prstGeom prst="roundRect">
            <a:avLst>
              <a:gd name="adj" fmla="val 6000"/>
            </a:avLst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Times New Roman"/>
              </a:rPr>
              <a:t>2NF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011680"/>
            <a:ext cx="26060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360" y="2103120"/>
            <a:ext cx="242316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Times New Roman"/>
              </a:rPr>
              <a:t>Orders(</a:t>
            </a:r>
            <a:r>
              <a:rPr sz="1400" b="1" i="0">
                <a:solidFill>
                  <a:srgbClr val="A02B93"/>
                </a:solidFill>
                <a:latin typeface="Times New Roman"/>
              </a:rPr>
              <a:t>order_id</a:t>
            </a:r>
            <a:r>
              <a:rPr sz="1400" b="0" i="0">
                <a:solidFill>
                  <a:srgbClr val="1A1A1A"/>
                </a:solidFill>
                <a:latin typeface="Times New Roman"/>
              </a:rPr>
              <a:t>, date, customer_id, customer_name, …, status)  Products(</a:t>
            </a:r>
            <a:r>
              <a:rPr sz="1400" b="1" i="0">
                <a:solidFill>
                  <a:srgbClr val="A02B93"/>
                </a:solidFill>
                <a:latin typeface="Times New Roman"/>
              </a:rPr>
              <a:t>product_id</a:t>
            </a:r>
            <a:r>
              <a:rPr sz="1400" b="0" i="0">
                <a:solidFill>
                  <a:srgbClr val="1A1A1A"/>
                </a:solidFill>
                <a:latin typeface="Times New Roman"/>
              </a:rPr>
              <a:t>, name, category, …)  OrderItems(</a:t>
            </a:r>
            <a:r>
              <a:rPr sz="1400" b="1" i="0">
                <a:solidFill>
                  <a:srgbClr val="A02B93"/>
                </a:solidFill>
                <a:latin typeface="Times New Roman"/>
              </a:rPr>
              <a:t>order_id, product_id</a:t>
            </a:r>
            <a:r>
              <a:rPr sz="1400" b="0" i="0">
                <a:solidFill>
                  <a:srgbClr val="1A1A1A"/>
                </a:solidFill>
                <a:latin typeface="Times New Roman"/>
              </a:rPr>
              <a:t>, qty, unit_price)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160520"/>
            <a:ext cx="26060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Removed partial dependencies: order_id → order data, product_id → product data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42248" y="3017520"/>
            <a:ext cx="192024" cy="0"/>
          </a:xfrm>
          <a:prstGeom prst="line">
            <a:avLst/>
          </a:prstGeom>
          <a:ln w="31750">
            <a:solidFill>
              <a:srgbClr val="A02B9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052560" y="1463040"/>
            <a:ext cx="2606040" cy="457200"/>
          </a:xfrm>
          <a:prstGeom prst="roundRect">
            <a:avLst>
              <a:gd name="adj" fmla="val 6000"/>
            </a:avLst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Times New Roman"/>
              </a:rPr>
              <a:t>3NF / BCNF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2011680"/>
            <a:ext cx="26060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4000" y="2103120"/>
            <a:ext cx="242316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Times New Roman"/>
              </a:rPr>
              <a:t>customers · categories · products · orders · order_items · payments · order_status_history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160520"/>
            <a:ext cx="26060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Removed transitive dependencies: order_id → customer_id → name, email, city; product_id → category_id → category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34924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F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5800" y="5440680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1" i="0">
                <a:solidFill>
                  <a:srgbClr val="A02B93"/>
                </a:solidFill>
                <a:latin typeface="Times New Roman"/>
              </a:rPr>
              <a:t>Anomalies removed.</a:t>
            </a:r>
            <a:r>
              <a:rPr sz="1500" b="0" i="0">
                <a:solidFill>
                  <a:srgbClr val="1A1A1A"/>
                </a:solidFill>
                <a:latin typeface="Times New Roman"/>
              </a:rPr>
              <a:t> Update: a customer's email changes in one row only. Insert: a new product can exist before anyone orders it. Delete: deleting the last order of a product does not lose the product.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Advanced SQL: Joins and Aggregation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Times New Roman"/>
              </a:rPr>
              <a:t>Queries run on the live database (1,304 orders); outputs below each 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Times New Roman"/>
              </a:rPr>
              <a:t>Q1. Multi-table JOIN: lines of order #1 (5 tables)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792224"/>
            <a:ext cx="5303520" cy="2057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SELECT o.order_id, c.name AS customer, p.name AS product,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cat.name AS category, oi.quantity, oi.unit_price,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oi.quantity * oi.unit_price AS line_total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FROM orders o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JOIN customers   c   ON c.customer_id   = o.customer_id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JOIN order_items oi  ON oi.order_id     = o.order_id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JOIN products    p   ON p.product_id    = oi.product_id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JOIN categories  cat ON cat.category_id = p.category_id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WHERE o.order_id = 1;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069080"/>
          <a:ext cx="5486396" cy="877824"/>
        </p:xfrm>
        <a:graphic>
          <a:graphicData uri="http://schemas.openxmlformats.org/drawingml/2006/table">
            <a:tbl>
              <a:tblPr firstRow="0" bandRow="0"/>
              <a:tblGrid>
                <a:gridCol w="1155031"/>
                <a:gridCol w="1371599"/>
                <a:gridCol w="1010652"/>
                <a:gridCol w="433136"/>
                <a:gridCol w="721894"/>
                <a:gridCol w="794084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customer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product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category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unit_price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line_total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Lakshmi Rao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Wireless Earbuds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Electronics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2499.00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2499.00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Lakshmi Rao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Water Bottle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Home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599.00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1198.00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074920"/>
            <a:ext cx="5486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</a:rPr>
              <a:t>The application's order view extends this into a </a:t>
            </a:r>
            <a:r>
              <a:rPr sz="1300" b="1" i="0">
                <a:solidFill>
                  <a:srgbClr val="595959"/>
                </a:solidFill>
                <a:latin typeface="Times New Roman"/>
              </a:rPr>
              <a:t>6-table query</a:t>
            </a:r>
            <a:r>
              <a:rPr sz="1300" b="0" i="0">
                <a:solidFill>
                  <a:srgbClr val="595959"/>
                </a:solidFill>
                <a:latin typeface="Times New Roman"/>
              </a:rPr>
              <a:t> with json_agg sub-queries (items, payment, status history) in a single statement.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371600"/>
            <a:ext cx="5394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Times New Roman"/>
              </a:rPr>
              <a:t>Q2. GROUP BY + aggregates: revenue by category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5079" y="1792224"/>
            <a:ext cx="5212080" cy="2057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SELECT cat.name AS category,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COUNT(DISTINCT oi.order_id)      AS orders,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SUM(oi.quantity)                 AS units,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SUM(oi.quantity * oi.unit_price) AS revenue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FROM order_items oi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JOIN products p     ON p.product_id = oi.product_id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JOIN categories cat ON cat.category_id = p.category_id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GROUP BY cat.name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ORDER BY revenue DESC;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4069080"/>
          <a:ext cx="5394958" cy="2048256"/>
        </p:xfrm>
        <a:graphic>
          <a:graphicData uri="http://schemas.openxmlformats.org/drawingml/2006/table">
            <a:tbl>
              <a:tblPr firstRow="0" bandRow="0"/>
              <a:tblGrid>
                <a:gridCol w="1659987"/>
                <a:gridCol w="1037492"/>
                <a:gridCol w="1037492"/>
                <a:gridCol w="1659987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category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orders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units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revenue (₹)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Computers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553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1,284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60,58,716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Electronics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363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754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21,79,346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Home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891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17,55,309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Fashion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655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15,45,645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Sports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552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14,04,948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Books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423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927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10,00,256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Advanced SQL: Subqueries and Window Functions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Times New Roman"/>
              </a:rPr>
              <a:t>Nested queries, correlated sub-queries and ranking on the live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Times New Roman"/>
              </a:rPr>
              <a:t>Q3. Subquery in HAVING: customers spending above average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792224"/>
            <a:ext cx="5303520" cy="2057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SELECT c.customer_id, c.name, c.city,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SUM(o.total_amount) AS total_spent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FROM customers c JOIN orders o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ON o.customer_id = c.customer_id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GROUP BY c.customer_id, c.name, c.city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HAVING SUM(o.total_amount) &gt; (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SELECT AVG(t.s) FROM (SELECT SUM(total_amount) AS s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FROM orders GROUP BY customer_id) t)</a:t>
            </a:r>
          </a:p>
          <a:p>
            <a:pPr algn="l">
              <a:buNone/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ORDER BY total_spent DESC LIMIT 5;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069080"/>
          <a:ext cx="5486399" cy="1170432"/>
        </p:xfrm>
        <a:graphic>
          <a:graphicData uri="http://schemas.openxmlformats.org/drawingml/2006/table">
            <a:tbl>
              <a:tblPr firstRow="0" bandRow="0"/>
              <a:tblGrid>
                <a:gridCol w="658368"/>
                <a:gridCol w="1865376"/>
                <a:gridCol w="1426464"/>
                <a:gridCol w="1536191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id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name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city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total_spent (₹)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Pooja Kumar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Ahmedabad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2,92,486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Divya Nambiar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Mumbai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2,03,059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Nikhil Reddy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Chennai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1,88,252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303520"/>
            <a:ext cx="5486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</a:rPr>
              <a:t>82 of 200 customers spend above the average.</a:t>
            </a:r>
          </a:p>
          <a:p>
            <a:pPr algn="l">
              <a:buNone/>
              <a:spcAft>
                <a:spcPts val="600"/>
              </a:spcAft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Q4. Correlated NOT EXISTS: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customers with no delivered order → </a:t>
            </a:r>
            <a:r>
              <a:rPr sz="1300" b="1" i="0">
                <a:solidFill>
                  <a:srgbClr val="A02B93"/>
                </a:solidFill>
                <a:latin typeface="Times New Roman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371600"/>
            <a:ext cx="5394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Times New Roman"/>
              </a:rPr>
              <a:t>Q5. Window function: best-selling product per category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5079" y="1792224"/>
            <a:ext cx="5212080" cy="2057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SELECT category, product, units FROM (</a:t>
            </a:r>
          </a:p>
          <a:p>
            <a:pPr algn="l">
              <a:buNone/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SELECT cat.name AS category, p.name AS product,</a:t>
            </a:r>
          </a:p>
          <a:p>
            <a:pPr algn="l">
              <a:buNone/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 SUM(oi.quantity) AS units,</a:t>
            </a:r>
          </a:p>
          <a:p>
            <a:pPr algn="l">
              <a:buNone/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 RANK() OVER (PARTITION BY cat.name</a:t>
            </a:r>
          </a:p>
          <a:p>
            <a:pPr algn="l">
              <a:buNone/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              ORDER BY SUM(oi.quantity) DESC) AS rnk</a:t>
            </a:r>
          </a:p>
          <a:p>
            <a:pPr algn="l">
              <a:buNone/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FROM order_items oi</a:t>
            </a:r>
          </a:p>
          <a:p>
            <a:pPr algn="l">
              <a:buNone/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JOIN products p     ON p.product_id = oi.product_id</a:t>
            </a:r>
          </a:p>
          <a:p>
            <a:pPr algn="l">
              <a:buNone/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JOIN categories cat ON cat.category_id = p.category_id</a:t>
            </a:r>
          </a:p>
          <a:p>
            <a:pPr algn="l">
              <a:buNone/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GROUP BY cat.name, p.name) ranked</a:t>
            </a:r>
          </a:p>
          <a:p>
            <a:pPr algn="l">
              <a:buNone/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WHERE rnk = 1 ORDER BY units DESC;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4069080"/>
          <a:ext cx="5394960" cy="2048256"/>
        </p:xfrm>
        <a:graphic>
          <a:graphicData uri="http://schemas.openxmlformats.org/drawingml/2006/table">
            <a:tbl>
              <a:tblPr firstRow="0" bandRow="0"/>
              <a:tblGrid>
                <a:gridCol w="1498600"/>
                <a:gridCol w="2997200"/>
                <a:gridCol w="89916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category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best seller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units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Fashion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Denim Jacket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Books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The Pragmatic Programmer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252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Home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Electric Kettle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Computers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Portable SSD 1TB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235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Electronics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Wireless Earbuds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Sports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Dumbbell Set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213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Transactions, Concurrency Control and Triggers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Times New Roman"/>
              </a:rPr>
              <a:t>Placing an order is one ACID transaction with row-level locking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852160" cy="29718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26464"/>
            <a:ext cx="5669280" cy="2880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Consolas"/>
              </a:rPr>
              <a:t>BEGIN;</a:t>
            </a:r>
          </a:p>
          <a:p>
            <a:pPr algn="l">
              <a:buNone/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Consolas"/>
              </a:rPr>
              <a:t>  -- lock the products in a fixed order (no deadlock)</a:t>
            </a:r>
          </a:p>
          <a:p>
            <a:pPr algn="l">
              <a:buNone/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Consolas"/>
              </a:rPr>
              <a:t>  SELECT product_id, price, stock FROM products</a:t>
            </a:r>
          </a:p>
          <a:p>
            <a:pPr algn="l">
              <a:buNone/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Consolas"/>
              </a:rPr>
              <a:t>   WHERE product_id = ANY(%s)</a:t>
            </a:r>
          </a:p>
          <a:p>
            <a:pPr algn="l">
              <a:buNone/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Consolas"/>
              </a:rPr>
              <a:t>   ORDER BY product_id FOR UPDATE;</a:t>
            </a:r>
          </a:p>
          <a:p>
            <a:pPr algn="l">
              <a:buNone/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Consolas"/>
              </a:rPr>
              <a:t>  -- not enough stock?  ROLLBACK -&gt; HTTP 409</a:t>
            </a:r>
          </a:p>
          <a:p>
            <a:pPr algn="l">
              <a:buNone/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Consolas"/>
              </a:rPr>
              <a:t>  INSERT INTO orders (...) VALUES (..., 'pending', 0);</a:t>
            </a:r>
          </a:p>
          <a:p>
            <a:pPr algn="l">
              <a:buNone/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Consolas"/>
              </a:rPr>
              <a:t>  INSERT INTO order_items (...) VALUES (...);</a:t>
            </a:r>
          </a:p>
          <a:p>
            <a:pPr algn="l">
              <a:buNone/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Consolas"/>
              </a:rPr>
              <a:t>  UPDATE products SET stock = stock - %s</a:t>
            </a:r>
          </a:p>
          <a:p>
            <a:pPr algn="l">
              <a:buNone/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Consolas"/>
              </a:rPr>
              <a:t>   WHERE product_id = %s;          -- CHECK stock &gt;= 0</a:t>
            </a:r>
          </a:p>
          <a:p>
            <a:pPr algn="l">
              <a:buNone/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Consolas"/>
              </a:rPr>
              <a:t>  INSERT INTO payments (...) VALUES (...);</a:t>
            </a:r>
          </a:p>
          <a:p>
            <a:pPr algn="l">
              <a:buNone/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Consolas"/>
              </a:rPr>
              <a:t>COMMIT;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3484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  <a:latin typeface="Times New Roman"/>
              </a:rPr>
              <a:t>Parameterized queries (%s) + a connection pool prevent SQL injection.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1371600"/>
            <a:ext cx="502920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766560" y="1444752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600" b="1" i="0">
                <a:solidFill>
                  <a:srgbClr val="A02B93"/>
                </a:solidFill>
                <a:latin typeface="Times New Roman"/>
              </a:rPr>
              <a:t>Concurrency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828800"/>
            <a:ext cx="4754880" cy="2880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Exclusive row locks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with SELECT … FOR UPDATE, held until COMMIT: </a:t>
            </a:r>
            <a:r>
              <a:rPr sz="1300" b="1" i="0">
                <a:solidFill>
                  <a:srgbClr val="A02B93"/>
                </a:solidFill>
                <a:latin typeface="Times New Roman"/>
              </a:rPr>
              <a:t>strict two-phase locking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.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Deadlock prevention: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every transaction locks products in the same order (by product_id).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Atomicity: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an oversell or any constraint violation rolls the whole order back (tested).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Durability: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the commit is in the write-ahead log (WAL) before it is acknowledged.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37760"/>
            <a:ext cx="58521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5010912"/>
            <a:ext cx="5577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600" b="1" i="0">
                <a:solidFill>
                  <a:srgbClr val="A02B93"/>
                </a:solidFill>
                <a:latin typeface="Times New Roman"/>
              </a:rPr>
              <a:t>Triggers (PL/pgSQL)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94960"/>
            <a:ext cx="5577840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19456">
              <a:spcAft>
                <a:spcPts val="200"/>
              </a:spcAft>
              <a:buFont typeface="Arial"/>
              <a:buChar char="•"/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trg_order_items_total: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recomputes orders.total_amount</a:t>
            </a:r>
          </a:p>
          <a:p>
            <a:pPr algn="l" marL="256032" indent="-219456">
              <a:spcAft>
                <a:spcPts val="200"/>
              </a:spcAft>
              <a:buFont typeface="Arial"/>
              <a:buChar char="•"/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trg_orders_status_history: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audit row for every status change</a:t>
            </a:r>
          </a:p>
          <a:p>
            <a:pPr algn="l" marL="256032" indent="-219456">
              <a:spcAft>
                <a:spcPts val="200"/>
              </a:spcAft>
              <a:buFont typeface="Arial"/>
              <a:buChar char="•"/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trg_products_touch: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maintains products.updated_at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937760"/>
            <a:ext cx="50292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66560" y="5010912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600" b="1" i="0">
                <a:solidFill>
                  <a:srgbClr val="A02B93"/>
                </a:solidFill>
                <a:latin typeface="Times New Roman"/>
              </a:rPr>
              <a:t>Authorization (GRANT)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5394960"/>
            <a:ext cx="4754880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19456">
              <a:spcAft>
                <a:spcPts val="200"/>
              </a:spcAft>
              <a:buFont typeface="Arial"/>
              <a:buChar char="•"/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app_writer: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SELECT / INSERT / UPDATE / DELETE only, no DROP or ALTER</a:t>
            </a:r>
          </a:p>
          <a:p>
            <a:pPr algn="l" marL="256032" indent="-219456">
              <a:spcAft>
                <a:spcPts val="200"/>
              </a:spcAft>
              <a:buFont typeface="Arial"/>
              <a:buChar char="•"/>
            </a:pPr>
            <a:r>
              <a:rPr sz="1300" b="1" i="0">
                <a:solidFill>
                  <a:srgbClr val="A02B93"/>
                </a:solidFill>
                <a:latin typeface="Times New Roman"/>
              </a:rPr>
              <a:t>debezium: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SELECT + REPLICATION, cannot modify 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Choosing the Right Database for Each Job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Times New Roman"/>
              </a:rPr>
              <a:t>Change Data Capture keeps a relational source of truth and a fast key-value read model in sync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5E3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Write API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746504"/>
            <a:ext cx="21488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171700" y="1463040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PostgreSQL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1588" y="1746504"/>
            <a:ext cx="21488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94760" y="1463040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F6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Debezium (WAL)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84648" y="1746504"/>
            <a:ext cx="21488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17820" y="1463040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Kafka ×3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07708" y="1746504"/>
            <a:ext cx="21488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40880" y="1463040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20A4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Consumer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8" y="1746504"/>
            <a:ext cx="21488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63940" y="1463040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D82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Redis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3828" y="1746504"/>
            <a:ext cx="21488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287000" y="1463040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2EA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Read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03120"/>
            <a:ext cx="11109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Write path → only PostgreSQL.  Every committed change flows through the log into Redis.  Read path → only Redis.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2606040"/>
          <a:ext cx="11109957" cy="2834640"/>
        </p:xfrm>
        <a:graphic>
          <a:graphicData uri="http://schemas.openxmlformats.org/drawingml/2006/table">
            <a:tbl>
              <a:tblPr firstRow="0" bandRow="0"/>
              <a:tblGrid>
                <a:gridCol w="1469085"/>
                <a:gridCol w="2019992"/>
                <a:gridCol w="3121806"/>
                <a:gridCol w="4499074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Database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Type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Why this database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A02B9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PostgreSQL 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Relational (OLTP)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Source of truth: 7 normalized tables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ACID transactions, constraints, triggers, row locks, WAL for logical decoding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Apache Kafka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Distributed commit log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Stream of change events (one topic per table)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Durable and ordered per row; 3 brokers, replication factor 3, survives a broker failure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Redis 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In-memory key-value store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Read model: pre-joined order / customer / product documents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One GET per order: 0.21 ms vs 2.29 ms for the 6-table JOIN (11.1× faster)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Prometheus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Time-series database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Pipeline metrics every 5 s, shown in Grafana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Times New Roman"/>
                        </a:rPr>
                        <a:t>Latency, events/s and lag over time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C6D6"/>
                      </a:solidFill>
                    </a:lnL>
                    <a:lnR w="6350">
                      <a:solidFill>
                        <a:srgbClr val="D9C6D6"/>
                      </a:solidFill>
                    </a:lnR>
                    <a:lnT w="6350">
                      <a:solidFill>
                        <a:srgbClr val="D9C6D6"/>
                      </a:solidFill>
                    </a:lnT>
                    <a:lnB w="6350">
                      <a:solidFill>
                        <a:srgbClr val="D9C6D6"/>
                      </a:solidFill>
                    </a:lnB>
                    <a:solidFill>
                      <a:srgbClr val="F8F0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48640" y="5623560"/>
            <a:ext cx="1110996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400" b="1" i="0">
                <a:solidFill>
                  <a:srgbClr val="A02B93"/>
                </a:solidFill>
                <a:latin typeface="Times New Roman"/>
              </a:rPr>
              <a:t>Eventual consistency:</a:t>
            </a:r>
            <a:r>
              <a:rPr sz="1400" b="0" i="0">
                <a:solidFill>
                  <a:srgbClr val="1A1A1A"/>
                </a:solidFill>
                <a:latin typeface="Times New Roman"/>
              </a:rPr>
              <a:t> Redis is typically 150–250 ms behind PostgreSQL and always converges; the consumer is idempotent and commits Kafka offsets only after Redis is updated.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Output: Web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Times New Roman"/>
              </a:rPr>
              <a:t>Every read below comes from Redis; every change was written to PostgreSQL only</a:t>
            </a:r>
          </a:p>
        </p:txBody>
      </p:sp>
      <p:pic>
        <p:nvPicPr>
          <p:cNvPr id="5" name="Picture 4" descr="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6400800" cy="384048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3035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Shop: catalogue and stock read from Redis; orders written to PostgreSQL</a:t>
            </a:r>
          </a:p>
        </p:txBody>
      </p:sp>
      <p:pic>
        <p:nvPicPr>
          <p:cNvPr id="7" name="Picture 6" descr="or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417320"/>
            <a:ext cx="4480560" cy="2688336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78040" y="4151376"/>
            <a:ext cx="44805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Orders: list from a Redis sorted set; one GET returns a full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4837176"/>
            <a:ext cx="44805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A02B93"/>
                </a:solidFill>
                <a:latin typeface="Times New Roman"/>
              </a:rPr>
              <a:t>Write path:</a:t>
            </a:r>
            <a:r>
              <a:rPr sz="1400" b="0" i="0">
                <a:solidFill>
                  <a:srgbClr val="1A1A1A"/>
                </a:solidFill>
                <a:latin typeface="Times New Roman"/>
              </a:rPr>
              <a:t> Write API → PostgreSQL only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A02B93"/>
                </a:solidFill>
                <a:latin typeface="Times New Roman"/>
              </a:rPr>
              <a:t>Read path:</a:t>
            </a:r>
            <a:r>
              <a:rPr sz="1400" b="0" i="0">
                <a:solidFill>
                  <a:srgbClr val="1A1A1A"/>
                </a:solidFill>
                <a:latin typeface="Times New Roman"/>
              </a:rPr>
              <a:t> Read API → Redis only</a:t>
            </a:r>
          </a:p>
          <a:p>
            <a:pPr algn="l" marL="256032" indent="-219456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A02B93"/>
                </a:solidFill>
                <a:latin typeface="Times New Roman"/>
              </a:rPr>
              <a:t>Live:</a:t>
            </a:r>
            <a:r>
              <a:rPr sz="1400" b="0" i="0">
                <a:solidFill>
                  <a:srgbClr val="1A1A1A"/>
                </a:solidFill>
                <a:latin typeface="Times New Roman"/>
              </a:rPr>
              <a:t> the header shows the commit → Redis delay (≈ 262 ms)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Times New Roman"/>
              </a:rPr>
              <a:t>Output: Live Pipeline and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822960" cy="54864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buNone/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Times New Roman"/>
              </a:rPr>
              <a:t>Change stream, KPIs and the Grafana dashboard during a 20-order burst</a:t>
            </a:r>
          </a:p>
        </p:txBody>
      </p:sp>
      <p:pic>
        <p:nvPicPr>
          <p:cNvPr id="5" name="Picture 4" descr="h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486400" cy="329184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7548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How it works: live change stream, KPIs, benchmark and consistency check</a:t>
            </a:r>
          </a:p>
        </p:txBody>
      </p:sp>
      <p:pic>
        <p:nvPicPr>
          <p:cNvPr id="7" name="Picture 6" descr="graf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417320"/>
            <a:ext cx="5486400" cy="288036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172200" y="43434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Times New Roman"/>
              </a:rPr>
              <a:t>Grafana: change events/s, commit → Redis latency, Kafka lag, Redis hit 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2103120" cy="1234440"/>
          </a:xfrm>
          <a:prstGeom prst="roundRect">
            <a:avLst>
              <a:gd name="adj" fmla="val 6000"/>
            </a:avLst>
          </a:prstGeom>
          <a:solidFill>
            <a:srgbClr val="F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532180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2600" b="1" i="0">
                <a:solidFill>
                  <a:srgbClr val="A02B93"/>
                </a:solidFill>
                <a:latin typeface="Times New Roman"/>
              </a:rPr>
              <a:t>1,304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4360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Times New Roman"/>
              </a:rPr>
              <a:t>orders in Redis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5257800"/>
            <a:ext cx="2103120" cy="1234440"/>
          </a:xfrm>
          <a:prstGeom prst="roundRect">
            <a:avLst>
              <a:gd name="adj" fmla="val 6000"/>
            </a:avLst>
          </a:prstGeom>
          <a:solidFill>
            <a:srgbClr val="F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7208" y="532180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2600" b="1" i="0">
                <a:solidFill>
                  <a:srgbClr val="A02B93"/>
                </a:solidFill>
                <a:latin typeface="Times New Roman"/>
              </a:rPr>
              <a:t>9,511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594360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Times New Roman"/>
              </a:rPr>
              <a:t>change events applied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5257800"/>
            <a:ext cx="2103120" cy="1234440"/>
          </a:xfrm>
          <a:prstGeom prst="roundRect">
            <a:avLst>
              <a:gd name="adj" fmla="val 6000"/>
            </a:avLst>
          </a:prstGeom>
          <a:solidFill>
            <a:srgbClr val="F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65776" y="532180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2600" b="1" i="0">
                <a:solidFill>
                  <a:srgbClr val="A02B93"/>
                </a:solidFill>
                <a:latin typeface="Times New Roman"/>
              </a:rPr>
              <a:t>262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594360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Times New Roman"/>
              </a:rPr>
              <a:t>commit → Redis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24344" y="5257800"/>
            <a:ext cx="2103120" cy="1234440"/>
          </a:xfrm>
          <a:prstGeom prst="roundRect">
            <a:avLst>
              <a:gd name="adj" fmla="val 6000"/>
            </a:avLst>
          </a:prstGeom>
          <a:solidFill>
            <a:srgbClr val="F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24344" y="532180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2600" b="1" i="0">
                <a:solidFill>
                  <a:srgbClr val="A02B93"/>
                </a:solidFill>
                <a:latin typeface="Times New Roman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4344" y="594360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Times New Roman"/>
              </a:rPr>
              <a:t>Kafka consumer lag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82912" y="5257800"/>
            <a:ext cx="2103120" cy="1234440"/>
          </a:xfrm>
          <a:prstGeom prst="roundRect">
            <a:avLst>
              <a:gd name="adj" fmla="val 6000"/>
            </a:avLst>
          </a:prstGeom>
          <a:solidFill>
            <a:srgbClr val="F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82912" y="532180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2600" b="1" i="0">
                <a:solidFill>
                  <a:srgbClr val="A02B93"/>
                </a:solidFill>
                <a:latin typeface="Times New Roman"/>
              </a:rPr>
              <a:t>99.3 %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82912" y="594360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buNone/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Times New Roman"/>
              </a:rPr>
              <a:t>Redis hit 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101</Words>
  <Application>Microsoft Office PowerPoint</Application>
  <PresentationFormat>Widescreen</PresentationFormat>
  <Paragraphs>16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TITLE OF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Aswathy Sreekumar - [CEN - ASAI]</dc:creator>
  <cp:lastModifiedBy>Aswathy Sreekumar - [CEN - ASAI]</cp:lastModifiedBy>
  <cp:revision>1</cp:revision>
  <dcterms:created xsi:type="dcterms:W3CDTF">2026-08-10T14:57:35Z</dcterms:created>
  <dcterms:modified xsi:type="dcterms:W3CDTF">2026-10-13T11:09:02Z</dcterms:modified>
</cp:coreProperties>
</file>