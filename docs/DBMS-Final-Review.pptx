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70" r:id="rId6"/>
    <p:sldId id="271" r:id="rId7"/>
    <p:sldId id="272" r:id="rId8"/>
    <p:sldId id="273" r:id="rId9"/>
    <p:sldId id="276" r:id="rId10"/>
    <p:sldId id="266" r:id="rId11"/>
    <p:sldId id="277" r:id="rId12"/>
    <p:sldId id="278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027991-2F07-4F96-B1C6-107263F3CE80}" v="2" dt="2026-10-13T10:55:36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106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wathy Sreekumar - [CEN - ASAI]" userId="b3c1aa58-c106-4f88-88ea-3055d21dc445" providerId="ADAL" clId="{5B164AC5-E01D-4441-90D0-4360FBA49630}"/>
    <pc:docChg chg="addSld delSld modSld">
      <pc:chgData name="Aswathy Sreekumar - [CEN - ASAI]" userId="b3c1aa58-c106-4f88-88ea-3055d21dc445" providerId="ADAL" clId="{5B164AC5-E01D-4441-90D0-4360FBA49630}" dt="2026-10-13T11:08:54.286" v="58" actId="14100"/>
      <pc:docMkLst>
        <pc:docMk/>
      </pc:docMkLst>
      <pc:sldChg chg="addSp modSp mod">
        <pc:chgData name="Aswathy Sreekumar - [CEN - ASAI]" userId="b3c1aa58-c106-4f88-88ea-3055d21dc445" providerId="ADAL" clId="{5B164AC5-E01D-4441-90D0-4360FBA49630}" dt="2026-10-13T10:52:49.730" v="30" actId="14100"/>
        <pc:sldMkLst>
          <pc:docMk/>
          <pc:sldMk cId="3292820169" sldId="257"/>
        </pc:sldMkLst>
        <pc:graphicFrameChg chg="add mod modGraphic">
          <ac:chgData name="Aswathy Sreekumar - [CEN - ASAI]" userId="b3c1aa58-c106-4f88-88ea-3055d21dc445" providerId="ADAL" clId="{5B164AC5-E01D-4441-90D0-4360FBA49630}" dt="2026-10-13T10:52:49.730" v="30" actId="14100"/>
          <ac:graphicFrameMkLst>
            <pc:docMk/>
            <pc:sldMk cId="3292820169" sldId="257"/>
            <ac:graphicFrameMk id="2" creationId="{DEE1715A-84A1-A11F-4C84-5112CD8BD376}"/>
          </ac:graphicFrameMkLst>
        </pc:graphicFrameChg>
      </pc:sldChg>
      <pc:sldChg chg="del">
        <pc:chgData name="Aswathy Sreekumar - [CEN - ASAI]" userId="b3c1aa58-c106-4f88-88ea-3055d21dc445" providerId="ADAL" clId="{5B164AC5-E01D-4441-90D0-4360FBA49630}" dt="2026-10-13T10:52:52.147" v="31" actId="47"/>
        <pc:sldMkLst>
          <pc:docMk/>
          <pc:sldMk cId="2876923024" sldId="258"/>
        </pc:sldMkLst>
      </pc:sldChg>
      <pc:sldChg chg="del">
        <pc:chgData name="Aswathy Sreekumar - [CEN - ASAI]" userId="b3c1aa58-c106-4f88-88ea-3055d21dc445" providerId="ADAL" clId="{5B164AC5-E01D-4441-90D0-4360FBA49630}" dt="2026-10-13T10:52:56.399" v="32" actId="47"/>
        <pc:sldMkLst>
          <pc:docMk/>
          <pc:sldMk cId="2029237179" sldId="259"/>
        </pc:sldMkLst>
      </pc:sldChg>
      <pc:sldChg chg="modSp mod">
        <pc:chgData name="Aswathy Sreekumar - [CEN - ASAI]" userId="b3c1aa58-c106-4f88-88ea-3055d21dc445" providerId="ADAL" clId="{5B164AC5-E01D-4441-90D0-4360FBA49630}" dt="2026-10-13T10:55:46.990" v="37" actId="2710"/>
        <pc:sldMkLst>
          <pc:docMk/>
          <pc:sldMk cId="1850165588" sldId="261"/>
        </pc:sldMkLst>
        <pc:spChg chg="mod">
          <ac:chgData name="Aswathy Sreekumar - [CEN - ASAI]" userId="b3c1aa58-c106-4f88-88ea-3055d21dc445" providerId="ADAL" clId="{5B164AC5-E01D-4441-90D0-4360FBA49630}" dt="2026-10-13T10:55:46.990" v="37" actId="2710"/>
          <ac:spMkLst>
            <pc:docMk/>
            <pc:sldMk cId="1850165588" sldId="261"/>
            <ac:spMk id="3" creationId="{A531F2BE-E9BB-CFA7-4CF2-F8DBEAF88D73}"/>
          </ac:spMkLst>
        </pc:spChg>
      </pc:sldChg>
      <pc:sldChg chg="del">
        <pc:chgData name="Aswathy Sreekumar - [CEN - ASAI]" userId="b3c1aa58-c106-4f88-88ea-3055d21dc445" providerId="ADAL" clId="{5B164AC5-E01D-4441-90D0-4360FBA49630}" dt="2026-10-13T10:55:50.019" v="38" actId="47"/>
        <pc:sldMkLst>
          <pc:docMk/>
          <pc:sldMk cId="1856641003" sldId="262"/>
        </pc:sldMkLst>
      </pc:sldChg>
      <pc:sldChg chg="del">
        <pc:chgData name="Aswathy Sreekumar - [CEN - ASAI]" userId="b3c1aa58-c106-4f88-88ea-3055d21dc445" providerId="ADAL" clId="{5B164AC5-E01D-4441-90D0-4360FBA49630}" dt="2026-10-13T10:55:52.552" v="39" actId="47"/>
        <pc:sldMkLst>
          <pc:docMk/>
          <pc:sldMk cId="3504888759" sldId="263"/>
        </pc:sldMkLst>
      </pc:sldChg>
      <pc:sldChg chg="del">
        <pc:chgData name="Aswathy Sreekumar - [CEN - ASAI]" userId="b3c1aa58-c106-4f88-88ea-3055d21dc445" providerId="ADAL" clId="{5B164AC5-E01D-4441-90D0-4360FBA49630}" dt="2026-10-13T10:56:47.088" v="40" actId="47"/>
        <pc:sldMkLst>
          <pc:docMk/>
          <pc:sldMk cId="3342667635" sldId="264"/>
        </pc:sldMkLst>
      </pc:sldChg>
      <pc:sldChg chg="del">
        <pc:chgData name="Aswathy Sreekumar - [CEN - ASAI]" userId="b3c1aa58-c106-4f88-88ea-3055d21dc445" providerId="ADAL" clId="{5B164AC5-E01D-4441-90D0-4360FBA49630}" dt="2026-10-13T10:56:49.988" v="41" actId="47"/>
        <pc:sldMkLst>
          <pc:docMk/>
          <pc:sldMk cId="3530030300" sldId="265"/>
        </pc:sldMkLst>
      </pc:sldChg>
      <pc:sldChg chg="modSp mod">
        <pc:chgData name="Aswathy Sreekumar - [CEN - ASAI]" userId="b3c1aa58-c106-4f88-88ea-3055d21dc445" providerId="ADAL" clId="{5B164AC5-E01D-4441-90D0-4360FBA49630}" dt="2026-10-13T10:57:35.144" v="49" actId="20577"/>
        <pc:sldMkLst>
          <pc:docMk/>
          <pc:sldMk cId="230239099" sldId="266"/>
        </pc:sldMkLst>
        <pc:spChg chg="mod">
          <ac:chgData name="Aswathy Sreekumar - [CEN - ASAI]" userId="b3c1aa58-c106-4f88-88ea-3055d21dc445" providerId="ADAL" clId="{5B164AC5-E01D-4441-90D0-4360FBA49630}" dt="2026-10-13T10:57:35.144" v="49" actId="20577"/>
          <ac:spMkLst>
            <pc:docMk/>
            <pc:sldMk cId="230239099" sldId="266"/>
            <ac:spMk id="3" creationId="{5F458A85-15CC-54E5-F079-FE1181C8F397}"/>
          </ac:spMkLst>
        </pc:spChg>
      </pc:sldChg>
      <pc:sldChg chg="del">
        <pc:chgData name="Aswathy Sreekumar - [CEN - ASAI]" userId="b3c1aa58-c106-4f88-88ea-3055d21dc445" providerId="ADAL" clId="{5B164AC5-E01D-4441-90D0-4360FBA49630}" dt="2026-10-13T10:56:55.044" v="42" actId="47"/>
        <pc:sldMkLst>
          <pc:docMk/>
          <pc:sldMk cId="3320080006" sldId="267"/>
        </pc:sldMkLst>
      </pc:sldChg>
      <pc:sldChg chg="addSp modSp new mod">
        <pc:chgData name="Aswathy Sreekumar - [CEN - ASAI]" userId="b3c1aa58-c106-4f88-88ea-3055d21dc445" providerId="ADAL" clId="{5B164AC5-E01D-4441-90D0-4360FBA49630}" dt="2026-10-13T11:08:54.286" v="58" actId="14100"/>
        <pc:sldMkLst>
          <pc:docMk/>
          <pc:sldMk cId="527201399" sldId="269"/>
        </pc:sldMkLst>
        <pc:spChg chg="add mod">
          <ac:chgData name="Aswathy Sreekumar - [CEN - ASAI]" userId="b3c1aa58-c106-4f88-88ea-3055d21dc445" providerId="ADAL" clId="{5B164AC5-E01D-4441-90D0-4360FBA49630}" dt="2026-10-13T11:08:54.286" v="58" actId="14100"/>
          <ac:spMkLst>
            <pc:docMk/>
            <pc:sldMk cId="527201399" sldId="269"/>
            <ac:spMk id="3" creationId="{2678BFD2-E2FE-42D3-F25D-424B4D75D75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A6C0A-D5F6-AB81-43DE-88E9948F8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5798CE-68E1-C89D-543E-21144CB6A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A8C6B-94F0-6EB8-00CA-1AAF8056A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F1D-ACC1-485E-993F-679869D1C13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7C2EB-9B31-B6C1-7DF5-BC6608AF8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BE46B-1FFD-0D1B-754D-66129868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52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B7AFD-7C6E-33E4-005C-A2B49F3F4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12FE6-0B5A-5A6B-2F98-4D5EAA938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AC422-3DDB-9425-FF66-CE063865C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F1D-ACC1-485E-993F-679869D1C13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7F005-93CD-1800-7E05-A2096CA9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C26F3-89BA-AD1B-A191-FE9F0BD88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434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75075-0E8C-A298-A19D-96666BBDC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7DBAC-4D36-DF50-F656-F8BA143B2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86904-A66D-A215-6CCE-37E1BFABB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F1D-ACC1-485E-993F-679869D1C13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6B1C4-EF4A-E5FC-E105-1C90C79FD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B5BD5-D765-54F9-A68E-950231988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5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BD904-F9D5-9296-AD75-599101997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B9CB8-4884-904C-29DC-A2984C303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EBB23-0455-90E3-86B1-8504D39E1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D8CF1-1C06-74FA-066B-86EEDDC61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F1D-ACC1-485E-993F-679869D1C13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D8D3E-3672-4B30-2C42-D0AADE4A0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92943-30AF-1760-4EF5-93186F474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19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28F87-E42A-9FB7-04DF-1A3C5795E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72D96-6B4D-5DDA-6497-5DFD815C6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AE828-D48F-3C4C-83C9-2E90069F6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FF6C5-0D8D-EBCA-7374-551158E97C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A7F956-F667-0B2A-11D3-9F8EA6E7D1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2E9B30-CDE1-A131-B618-CFD28954E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F1D-ACC1-485E-993F-679869D1C13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37441B-8946-282F-3058-BC87BF03E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835438-20C4-ABC4-2880-2AABD58E3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104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DDEAC-A027-AF39-3138-89EA5D880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986F5D-7A5A-CB14-BE77-6C18BACB2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F1D-ACC1-485E-993F-679869D1C13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6E95D-06CE-31FF-B34D-5C98D22BF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AFD1F-CB87-9D33-533B-CC30827AE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878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6416EE-A675-3080-0FA1-4A3031EDC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F1D-ACC1-485E-993F-679869D1C13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167CF6-E5EA-BEC9-27D5-4F6D7BC4A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1FDC9-D9D0-F959-462A-00663242F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04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2EBF6-914D-9CBA-6500-D8C1A6D7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4105D-214B-F383-55A7-30C31F188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C6461D-C330-00FA-0BC7-9D5373AE0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25CD7-5C77-9AA3-7CA3-8A587615C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F1D-ACC1-485E-993F-679869D1C13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FDDAA-BB5C-C923-332D-2A2768B2A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97C015-4541-998F-7137-92450FC4A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54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B277-98C0-4BA1-B07D-433FD8BF4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8C8283-DEB5-F117-47A9-21B2D1949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C3F843-2C90-F839-62E5-D10BC0AA7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1E60C-B262-9AA4-5511-F7F107114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F1D-ACC1-485E-993F-679869D1C13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8B2B4-6062-530C-6B8D-0B7D237C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24B56-B061-58AF-E81D-B809E019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935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4F4BC-331C-555A-D19B-E6B6FCA31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AC5D4-9EEB-A2BE-B5FA-4069D13EC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B4AEE-4C08-0ECB-CEC0-7A29D61CA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F1D-ACC1-485E-993F-679869D1C13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47458-6AE5-FC47-5752-D8CBD80AF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76DE2-23C5-A411-A333-842F8BA70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02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E672DC-4291-6EDB-2532-571B7671A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04DF8F-7692-6D41-B9E5-66BA5AAD8D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AEEDA-96A5-99A1-CFC1-4F4770CAA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F1D-ACC1-485E-993F-679869D1C13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04064-98BD-B23A-F794-8E172868F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E548B-D108-816E-4957-A79163B28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4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ED3ED1-0D56-C0D2-9F13-F1C2B5AF9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51F9D-A8BF-931E-3CD9-349C0CAB7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9E098-36DB-F2D4-A2EB-B0E2388C7B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C5F1D-ACC1-485E-993F-679869D1C13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D4334-980A-45D8-E18C-CAC89A936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761B6-9B05-D034-B51F-ED3D1F4EA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899440-1C3D-44FF-9D87-638639B66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4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4B5A6-0504-DE05-284A-C315B1809D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Real-Time CDC Pipeline for</a:t>
            </a:r>
            <a:br/>
            <a:r>
              <a:rPr sz="4400"/>
              <a:t>an E-Commerce Database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6E4B16-00B0-FB82-E876-F2B5F288BD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b="1" dirty="0"/>
              <a:t>PostgreSQL · Debezium · Kafka · Redis  |  22AIE303 Database Management Systems</a:t>
            </a:r>
          </a:p>
          <a:p>
            <a:r>
              <a:rPr lang="en-US" sz="1800" b="1" dirty="0">
                <a:solidFill>
                  <a:srgbClr val="A02B93"/>
                </a:solidFill>
              </a:rPr>
              <a:t>Team : AB05</a:t>
            </a:r>
          </a:p>
          <a:p>
            <a:r>
              <a:rPr lang="en-US" sz="1800" dirty="0"/>
              <a:t>Aamith Kishore T J – CB.SC.U4AIE24001     Naveen U – CB.SC.U4AIE24035</a:t>
            </a:r>
          </a:p>
          <a:p>
            <a:r>
              <a:rPr lang="en-US" sz="1800" dirty="0"/>
              <a:t>Ragav S – CB.SC.U4AIE24041     Padmesh Sivalingam – CB.SC.U4AIE24044</a:t>
            </a:r>
          </a:p>
        </p:txBody>
      </p:sp>
    </p:spTree>
    <p:extLst>
      <p:ext uri="{BB962C8B-B14F-4D97-AF65-F5344CB8AC3E}">
        <p14:creationId xmlns:p14="http://schemas.microsoft.com/office/powerpoint/2010/main" val="3869315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61819"/>
            <a:ext cx="111556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822960" cy="54864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500" b="0" i="1">
                <a:solidFill>
                  <a:srgbClr val="595959"/>
                </a:solidFill>
                <a:latin typeface="Times New Roman"/>
              </a:rPr>
              <a:t>What problem the system solves, the existing difficulties, and why the system is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76072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90472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A02B93"/>
                </a:solidFill>
                <a:latin typeface="Times New Roman"/>
              </a:rPr>
              <a:t>Problem and existing difficulties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5486400" cy="4526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700" b="1" i="0">
                <a:solidFill>
                  <a:srgbClr val="A02B93"/>
                </a:solidFill>
                <a:latin typeface="Times New Roman"/>
              </a:rPr>
              <a:t>Heavy reads on the OLTP database.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 An online shop serves far more reads (order tracking, history, product pages) than writes, and showing one order needs a </a:t>
            </a:r>
            <a:r>
              <a:rPr sz="1700" b="1" i="0">
                <a:solidFill>
                  <a:srgbClr val="A02B93"/>
                </a:solidFill>
                <a:latin typeface="Times New Roman"/>
              </a:rPr>
              <a:t>6-table JOIN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.</a:t>
            </a:r>
          </a:p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700" b="1" i="0">
                <a:solidFill>
                  <a:srgbClr val="A02B93"/>
                </a:solidFill>
                <a:latin typeface="Times New Roman"/>
              </a:rPr>
              <a:t>Reads and writes compete.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 With concurrent writers, PostgreSQL read latency almost doubles (1.24 → 2.20 ms per order).</a:t>
            </a:r>
          </a:p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700" b="1" i="0">
                <a:solidFill>
                  <a:srgbClr val="A02B93"/>
                </a:solidFill>
                <a:latin typeface="Times New Roman"/>
              </a:rPr>
              <a:t>Dual-write problem.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 The usual fix writes to the database and a cache separately. A crash between the two writes leaves the cache </a:t>
            </a:r>
            <a:r>
              <a:rPr sz="1700" b="1" i="0">
                <a:solidFill>
                  <a:srgbClr val="A02B93"/>
                </a:solidFill>
                <a:latin typeface="Times New Roman"/>
              </a:rPr>
              <a:t>permanently wrong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, and nothing repairs it.</a:t>
            </a:r>
          </a:p>
          <a:p>
            <a:pPr algn="l">
              <a:buNone/>
            </a:pPr>
            <a:r>
              <a:rPr sz="1700" b="1" i="0">
                <a:solidFill>
                  <a:srgbClr val="A02B93"/>
                </a:solidFill>
                <a:latin typeface="Times New Roman"/>
              </a:rPr>
              <a:t>Why the system is needed: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 the application must write to exactly one database, reads must not load it, and the fast copy must always converge to the truth.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417320"/>
            <a:ext cx="512064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490472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A02B93"/>
                </a:solidFill>
                <a:latin typeface="Times New Roman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74519"/>
            <a:ext cx="4846320" cy="4526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19456" algn="l">
              <a:spcAft>
                <a:spcPts val="600"/>
              </a:spcAft>
              <a:buAutoNum type="arabicPeriod"/>
            </a:pPr>
            <a:r>
              <a:rPr sz="1700" b="0" i="0">
                <a:solidFill>
                  <a:srgbClr val="1A1A1A"/>
                </a:solidFill>
                <a:latin typeface="Times New Roman"/>
              </a:rPr>
              <a:t>Model the shop with an </a:t>
            </a:r>
            <a:r>
              <a:rPr sz="1700" b="1" i="0">
                <a:solidFill>
                  <a:srgbClr val="A02B93"/>
                </a:solidFill>
                <a:latin typeface="Times New Roman"/>
              </a:rPr>
              <a:t>ER diagram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 and map it to a relational schema (CO2)</a:t>
            </a:r>
          </a:p>
          <a:p>
            <a:pPr marL="256032" indent="-219456" algn="l">
              <a:spcAft>
                <a:spcPts val="600"/>
              </a:spcAft>
              <a:buAutoNum type="arabicPeriod"/>
            </a:pPr>
            <a:r>
              <a:rPr sz="1700" b="0" i="0">
                <a:solidFill>
                  <a:srgbClr val="1A1A1A"/>
                </a:solidFill>
                <a:latin typeface="Times New Roman"/>
              </a:rPr>
              <a:t>Normalize to </a:t>
            </a:r>
            <a:r>
              <a:rPr sz="1700" b="1" i="0">
                <a:solidFill>
                  <a:srgbClr val="A02B93"/>
                </a:solidFill>
                <a:latin typeface="Times New Roman"/>
              </a:rPr>
              <a:t>3NF / BCNF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 with functional-dependency proof (CO3)</a:t>
            </a:r>
          </a:p>
          <a:p>
            <a:pPr marL="256032" indent="-219456" algn="l">
              <a:spcAft>
                <a:spcPts val="600"/>
              </a:spcAft>
              <a:buAutoNum type="arabicPeriod"/>
            </a:pPr>
            <a:r>
              <a:rPr sz="1700" b="0" i="0">
                <a:solidFill>
                  <a:srgbClr val="1A1A1A"/>
                </a:solidFill>
                <a:latin typeface="Times New Roman"/>
              </a:rPr>
              <a:t>Implement constraints, triggers and </a:t>
            </a:r>
            <a:r>
              <a:rPr sz="1700" b="1" i="0">
                <a:solidFill>
                  <a:srgbClr val="A02B93"/>
                </a:solidFill>
                <a:latin typeface="Times New Roman"/>
              </a:rPr>
              <a:t>advanced SQL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 queries (CO1)</a:t>
            </a:r>
          </a:p>
          <a:p>
            <a:pPr marL="256032" indent="-219456" algn="l">
              <a:spcAft>
                <a:spcPts val="600"/>
              </a:spcAft>
              <a:buAutoNum type="arabicPeriod"/>
            </a:pPr>
            <a:r>
              <a:rPr sz="1700" b="0" i="0">
                <a:solidFill>
                  <a:srgbClr val="1A1A1A"/>
                </a:solidFill>
                <a:latin typeface="Times New Roman"/>
              </a:rPr>
              <a:t>Guarantee </a:t>
            </a:r>
            <a:r>
              <a:rPr sz="1700" b="1" i="0">
                <a:solidFill>
                  <a:srgbClr val="A02B93"/>
                </a:solidFill>
                <a:latin typeface="Times New Roman"/>
              </a:rPr>
              <a:t>ACID transactions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 and concurrency control for orders (CO4)</a:t>
            </a:r>
          </a:p>
          <a:p>
            <a:pPr marL="256032" indent="-219456" algn="l">
              <a:spcAft>
                <a:spcPts val="600"/>
              </a:spcAft>
              <a:buAutoNum type="arabicPeriod"/>
            </a:pPr>
            <a:r>
              <a:rPr sz="1700" b="0" i="0">
                <a:solidFill>
                  <a:srgbClr val="1A1A1A"/>
                </a:solidFill>
                <a:latin typeface="Times New Roman"/>
              </a:rPr>
              <a:t>Use the </a:t>
            </a:r>
            <a:r>
              <a:rPr sz="1700" b="1" i="0">
                <a:solidFill>
                  <a:srgbClr val="A02B93"/>
                </a:solidFill>
                <a:latin typeface="Times New Roman"/>
              </a:rPr>
              <a:t>right high-level databases</a:t>
            </a:r>
            <a:r>
              <a:rPr sz="1700" b="0" i="0">
                <a:solidFill>
                  <a:srgbClr val="1A1A1A"/>
                </a:solidFill>
                <a:latin typeface="Times New Roman"/>
              </a:rPr>
              <a:t>: Redis read model fed through Kafka by Change Data Capture (CO5)</a:t>
            </a:r>
          </a:p>
          <a:p>
            <a:pPr marL="256032" indent="-219456" algn="l">
              <a:spcAft>
                <a:spcPts val="600"/>
              </a:spcAft>
              <a:buAutoNum type="arabicPeriod"/>
            </a:pPr>
            <a:r>
              <a:rPr sz="1700" b="0" i="0">
                <a:solidFill>
                  <a:srgbClr val="1A1A1A"/>
                </a:solidFill>
                <a:latin typeface="Times New Roman"/>
              </a:rPr>
              <a:t>Build a Flask + HTML/JS web application that demonstrates every operation</a:t>
            </a:r>
          </a:p>
        </p:txBody>
      </p:sp>
    </p:spTree>
    <p:extLst>
      <p:ext uri="{BB962C8B-B14F-4D97-AF65-F5344CB8AC3E}">
        <p14:creationId xmlns:p14="http://schemas.microsoft.com/office/powerpoint/2010/main" val="3292820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E88F3-15D6-A352-A8A2-606DEEB27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2800" b="1" i="0" dirty="0">
                <a:solidFill>
                  <a:srgbClr val="1A1A1A"/>
                </a:solidFill>
                <a:latin typeface="Times New Roman"/>
              </a:rPr>
              <a:t>Use Case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822960" cy="54864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500" b="0" i="1">
                <a:solidFill>
                  <a:srgbClr val="595959"/>
                </a:solidFill>
                <a:latin typeface="Times New Roman"/>
              </a:rPr>
              <a:t>ShopDB order system: actors, use cases and «include»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331720" y="1371600"/>
            <a:ext cx="7635240" cy="5257800"/>
          </a:xfrm>
          <a:prstGeom prst="rect">
            <a:avLst/>
          </a:prstGeom>
          <a:noFill/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23160" y="1417320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Times New Roman"/>
              </a:rPr>
              <a:t>ShopDB Order System</a:t>
            </a:r>
          </a:p>
        </p:txBody>
      </p:sp>
      <p:sp>
        <p:nvSpPr>
          <p:cNvPr id="7" name="Oval 6"/>
          <p:cNvSpPr/>
          <p:nvPr/>
        </p:nvSpPr>
        <p:spPr>
          <a:xfrm>
            <a:off x="2560320" y="1783080"/>
            <a:ext cx="2103120" cy="548640"/>
          </a:xfrm>
          <a:prstGeom prst="ellipse">
            <a:avLst/>
          </a:prstGeom>
          <a:solidFill>
            <a:srgbClr val="F8F0F7"/>
          </a:solidFill>
          <a:ln w="15875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  <a:latin typeface="Times New Roman"/>
              </a:rPr>
              <a:t>Browse Products</a:t>
            </a:r>
          </a:p>
        </p:txBody>
      </p:sp>
      <p:sp>
        <p:nvSpPr>
          <p:cNvPr id="8" name="Oval 7"/>
          <p:cNvSpPr/>
          <p:nvPr/>
        </p:nvSpPr>
        <p:spPr>
          <a:xfrm>
            <a:off x="2560320" y="2697480"/>
            <a:ext cx="2103120" cy="548640"/>
          </a:xfrm>
          <a:prstGeom prst="ellipse">
            <a:avLst/>
          </a:prstGeom>
          <a:solidFill>
            <a:srgbClr val="F8F0F7"/>
          </a:solidFill>
          <a:ln w="15875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  <a:latin typeface="Times New Roman"/>
              </a:rPr>
              <a:t>Place Order</a:t>
            </a:r>
          </a:p>
        </p:txBody>
      </p:sp>
      <p:sp>
        <p:nvSpPr>
          <p:cNvPr id="9" name="Oval 8"/>
          <p:cNvSpPr/>
          <p:nvPr/>
        </p:nvSpPr>
        <p:spPr>
          <a:xfrm>
            <a:off x="2560320" y="3611880"/>
            <a:ext cx="2103120" cy="548640"/>
          </a:xfrm>
          <a:prstGeom prst="ellipse">
            <a:avLst/>
          </a:prstGeom>
          <a:solidFill>
            <a:srgbClr val="F8F0F7"/>
          </a:solidFill>
          <a:ln w="15875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  <a:latin typeface="Times New Roman"/>
              </a:rPr>
              <a:t>Track Order</a:t>
            </a:r>
          </a:p>
        </p:txBody>
      </p:sp>
      <p:sp>
        <p:nvSpPr>
          <p:cNvPr id="10" name="Oval 9"/>
          <p:cNvSpPr/>
          <p:nvPr/>
        </p:nvSpPr>
        <p:spPr>
          <a:xfrm>
            <a:off x="2560320" y="4526280"/>
            <a:ext cx="2103120" cy="548640"/>
          </a:xfrm>
          <a:prstGeom prst="ellipse">
            <a:avLst/>
          </a:prstGeom>
          <a:solidFill>
            <a:srgbClr val="F8F0F7"/>
          </a:solidFill>
          <a:ln w="15875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  <a:latin typeface="Times New Roman"/>
              </a:rPr>
              <a:t>View Order History</a:t>
            </a:r>
          </a:p>
        </p:txBody>
      </p:sp>
      <p:sp>
        <p:nvSpPr>
          <p:cNvPr id="11" name="Oval 10"/>
          <p:cNvSpPr/>
          <p:nvPr/>
        </p:nvSpPr>
        <p:spPr>
          <a:xfrm>
            <a:off x="5006340" y="1783080"/>
            <a:ext cx="1965960" cy="548640"/>
          </a:xfrm>
          <a:prstGeom prst="ellipse">
            <a:avLst/>
          </a:prstGeom>
          <a:solidFill>
            <a:srgbClr val="F8F0F7"/>
          </a:solidFill>
          <a:ln w="15875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  <a:latin typeface="Times New Roman"/>
              </a:rPr>
              <a:t>Record Status History</a:t>
            </a:r>
          </a:p>
        </p:txBody>
      </p:sp>
      <p:sp>
        <p:nvSpPr>
          <p:cNvPr id="12" name="Oval 11"/>
          <p:cNvSpPr/>
          <p:nvPr/>
        </p:nvSpPr>
        <p:spPr>
          <a:xfrm>
            <a:off x="5006340" y="2697480"/>
            <a:ext cx="1965960" cy="548640"/>
          </a:xfrm>
          <a:prstGeom prst="ellipse">
            <a:avLst/>
          </a:prstGeom>
          <a:solidFill>
            <a:srgbClr val="F8F0F7"/>
          </a:solidFill>
          <a:ln w="15875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  <a:latin typeface="Times New Roman"/>
              </a:rPr>
              <a:t>Make Payment</a:t>
            </a:r>
          </a:p>
        </p:txBody>
      </p:sp>
      <p:sp>
        <p:nvSpPr>
          <p:cNvPr id="13" name="Oval 12"/>
          <p:cNvSpPr/>
          <p:nvPr/>
        </p:nvSpPr>
        <p:spPr>
          <a:xfrm>
            <a:off x="5006340" y="3611880"/>
            <a:ext cx="1965960" cy="548640"/>
          </a:xfrm>
          <a:prstGeom prst="ellipse">
            <a:avLst/>
          </a:prstGeom>
          <a:solidFill>
            <a:srgbClr val="F8F0F7"/>
          </a:solidFill>
          <a:ln w="15875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  <a:latin typeface="Times New Roman"/>
              </a:rPr>
              <a:t>Update Stock</a:t>
            </a:r>
          </a:p>
        </p:txBody>
      </p:sp>
      <p:sp>
        <p:nvSpPr>
          <p:cNvPr id="14" name="Oval 13"/>
          <p:cNvSpPr/>
          <p:nvPr/>
        </p:nvSpPr>
        <p:spPr>
          <a:xfrm>
            <a:off x="5006340" y="5623560"/>
            <a:ext cx="1965960" cy="548640"/>
          </a:xfrm>
          <a:prstGeom prst="ellipse">
            <a:avLst/>
          </a:prstGeom>
          <a:solidFill>
            <a:srgbClr val="F8F0F7"/>
          </a:solidFill>
          <a:ln w="15875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  <a:latin typeface="Times New Roman"/>
              </a:rPr>
              <a:t>Sync Read Model (Redis)</a:t>
            </a:r>
          </a:p>
        </p:txBody>
      </p:sp>
      <p:sp>
        <p:nvSpPr>
          <p:cNvPr id="15" name="Oval 14"/>
          <p:cNvSpPr/>
          <p:nvPr/>
        </p:nvSpPr>
        <p:spPr>
          <a:xfrm>
            <a:off x="7520940" y="1783080"/>
            <a:ext cx="2240280" cy="548640"/>
          </a:xfrm>
          <a:prstGeom prst="ellipse">
            <a:avLst/>
          </a:prstGeom>
          <a:solidFill>
            <a:srgbClr val="F8F0F7"/>
          </a:solidFill>
          <a:ln w="15875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  <a:latin typeface="Times New Roman"/>
              </a:rPr>
              <a:t>Update Order Status</a:t>
            </a:r>
          </a:p>
        </p:txBody>
      </p:sp>
      <p:sp>
        <p:nvSpPr>
          <p:cNvPr id="16" name="Oval 15"/>
          <p:cNvSpPr/>
          <p:nvPr/>
        </p:nvSpPr>
        <p:spPr>
          <a:xfrm>
            <a:off x="7520940" y="2468880"/>
            <a:ext cx="2240280" cy="548640"/>
          </a:xfrm>
          <a:prstGeom prst="ellipse">
            <a:avLst/>
          </a:prstGeom>
          <a:solidFill>
            <a:srgbClr val="F8F0F7"/>
          </a:solidFill>
          <a:ln w="15875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  <a:latin typeface="Times New Roman"/>
              </a:rPr>
              <a:t>Delete Order &amp; Restock</a:t>
            </a:r>
          </a:p>
        </p:txBody>
      </p:sp>
      <p:sp>
        <p:nvSpPr>
          <p:cNvPr id="17" name="Oval 16"/>
          <p:cNvSpPr/>
          <p:nvPr/>
        </p:nvSpPr>
        <p:spPr>
          <a:xfrm>
            <a:off x="7520940" y="3154680"/>
            <a:ext cx="2240280" cy="548640"/>
          </a:xfrm>
          <a:prstGeom prst="ellipse">
            <a:avLst/>
          </a:prstGeom>
          <a:solidFill>
            <a:srgbClr val="F8F0F7"/>
          </a:solidFill>
          <a:ln w="15875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  <a:latin typeface="Times New Roman"/>
              </a:rPr>
              <a:t>Manage Products &amp; Stock</a:t>
            </a:r>
          </a:p>
        </p:txBody>
      </p:sp>
      <p:sp>
        <p:nvSpPr>
          <p:cNvPr id="18" name="Oval 17"/>
          <p:cNvSpPr/>
          <p:nvPr/>
        </p:nvSpPr>
        <p:spPr>
          <a:xfrm>
            <a:off x="7520940" y="3840480"/>
            <a:ext cx="2240280" cy="548640"/>
          </a:xfrm>
          <a:prstGeom prst="ellipse">
            <a:avLst/>
          </a:prstGeom>
          <a:solidFill>
            <a:srgbClr val="F8F0F7"/>
          </a:solidFill>
          <a:ln w="15875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  <a:latin typeface="Times New Roman"/>
              </a:rPr>
              <a:t>Manage Customers</a:t>
            </a:r>
          </a:p>
        </p:txBody>
      </p:sp>
      <p:sp>
        <p:nvSpPr>
          <p:cNvPr id="19" name="Oval 18"/>
          <p:cNvSpPr/>
          <p:nvPr/>
        </p:nvSpPr>
        <p:spPr>
          <a:xfrm>
            <a:off x="7520940" y="4526280"/>
            <a:ext cx="2240280" cy="548640"/>
          </a:xfrm>
          <a:prstGeom prst="ellipse">
            <a:avLst/>
          </a:prstGeom>
          <a:solidFill>
            <a:srgbClr val="F8F0F7"/>
          </a:solidFill>
          <a:ln w="15875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  <a:latin typeface="Times New Roman"/>
              </a:rPr>
              <a:t>View Sales Reports</a:t>
            </a:r>
          </a:p>
        </p:txBody>
      </p:sp>
      <p:sp>
        <p:nvSpPr>
          <p:cNvPr id="20" name="Oval 19"/>
          <p:cNvSpPr/>
          <p:nvPr/>
        </p:nvSpPr>
        <p:spPr>
          <a:xfrm>
            <a:off x="7520940" y="5212080"/>
            <a:ext cx="2240280" cy="548640"/>
          </a:xfrm>
          <a:prstGeom prst="ellipse">
            <a:avLst/>
          </a:prstGeom>
          <a:solidFill>
            <a:srgbClr val="F8F0F7"/>
          </a:solidFill>
          <a:ln w="15875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  <a:latin typeface="Times New Roman"/>
              </a:rPr>
              <a:t>Monitor Pipeline</a:t>
            </a:r>
          </a:p>
        </p:txBody>
      </p:sp>
      <p:sp>
        <p:nvSpPr>
          <p:cNvPr id="21" name="Oval 20"/>
          <p:cNvSpPr/>
          <p:nvPr/>
        </p:nvSpPr>
        <p:spPr>
          <a:xfrm>
            <a:off x="1033272" y="2377440"/>
            <a:ext cx="310896" cy="310896"/>
          </a:xfrm>
          <a:prstGeom prst="ellipse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1188720" y="2688336"/>
            <a:ext cx="0" cy="55778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96112" y="2880360"/>
            <a:ext cx="58521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941832" y="3246120"/>
            <a:ext cx="246888" cy="36576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88720" y="3246120"/>
            <a:ext cx="246888" cy="36576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" y="3657600"/>
            <a:ext cx="219456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1A1A1A"/>
                </a:solidFill>
                <a:latin typeface="Times New Roman"/>
              </a:rPr>
              <a:t>Customer</a:t>
            </a:r>
          </a:p>
        </p:txBody>
      </p:sp>
      <p:sp>
        <p:nvSpPr>
          <p:cNvPr id="27" name="Oval 26"/>
          <p:cNvSpPr/>
          <p:nvPr/>
        </p:nvSpPr>
        <p:spPr>
          <a:xfrm>
            <a:off x="10817352" y="2743200"/>
            <a:ext cx="310896" cy="310896"/>
          </a:xfrm>
          <a:prstGeom prst="ellipse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10972800" y="3054096"/>
            <a:ext cx="0" cy="55778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80192" y="3246120"/>
            <a:ext cx="58521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0725912" y="3611880"/>
            <a:ext cx="246888" cy="36575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972800" y="3611880"/>
            <a:ext cx="246888" cy="36575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875520" y="4023360"/>
            <a:ext cx="219456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1A1A1A"/>
                </a:solidFill>
                <a:latin typeface="Times New Roman"/>
              </a:rPr>
              <a:t>Shop Admin</a:t>
            </a:r>
          </a:p>
        </p:txBody>
      </p:sp>
      <p:sp>
        <p:nvSpPr>
          <p:cNvPr id="33" name="Oval 32"/>
          <p:cNvSpPr/>
          <p:nvPr/>
        </p:nvSpPr>
        <p:spPr>
          <a:xfrm>
            <a:off x="1033272" y="4846320"/>
            <a:ext cx="310896" cy="310896"/>
          </a:xfrm>
          <a:prstGeom prst="ellipse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1188720" y="5157216"/>
            <a:ext cx="0" cy="55778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96112" y="5349240"/>
            <a:ext cx="58521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941832" y="5715000"/>
            <a:ext cx="246888" cy="36576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88720" y="5715000"/>
            <a:ext cx="246888" cy="36576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440" y="6126479"/>
            <a:ext cx="219456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1A1A1A"/>
                </a:solidFill>
                <a:latin typeface="Times New Roman"/>
              </a:rPr>
              <a:t>CDC Pipeline</a:t>
            </a:r>
          </a:p>
          <a:p>
            <a:pPr algn="ctr">
              <a:buNone/>
            </a:pPr>
            <a:r>
              <a:rPr sz="1100" b="0" i="0">
                <a:solidFill>
                  <a:srgbClr val="1A1A1A"/>
                </a:solidFill>
                <a:latin typeface="Times New Roman"/>
              </a:rPr>
              <a:t>(Debezium + Consumer)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1463040" y="2057400"/>
            <a:ext cx="1097280" cy="86868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463040" y="2926080"/>
            <a:ext cx="1097280" cy="4572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463040" y="2926080"/>
            <a:ext cx="1097280" cy="96012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63040" y="2926080"/>
            <a:ext cx="1097280" cy="187452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9761219" y="2057400"/>
            <a:ext cx="937261" cy="123444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9761219" y="2743200"/>
            <a:ext cx="937261" cy="54864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761219" y="3291840"/>
            <a:ext cx="937261" cy="13716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9761219" y="3291840"/>
            <a:ext cx="937261" cy="82296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761219" y="3291840"/>
            <a:ext cx="937261" cy="150876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9761219" y="3291840"/>
            <a:ext cx="937261" cy="219456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463040" y="5394959"/>
            <a:ext cx="3543300" cy="502921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63440" y="2971800"/>
            <a:ext cx="342900" cy="0"/>
          </a:xfrm>
          <a:prstGeom prst="line">
            <a:avLst/>
          </a:prstGeom>
          <a:ln w="15875">
            <a:solidFill>
              <a:srgbClr val="A02B9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377690" y="2670048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buNone/>
            </a:pPr>
            <a:r>
              <a:rPr sz="1000" b="0" i="1">
                <a:solidFill>
                  <a:srgbClr val="A02B93"/>
                </a:solidFill>
                <a:latin typeface="Times New Roman"/>
              </a:rPr>
              <a:t>«include»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663440" y="2971800"/>
            <a:ext cx="342900" cy="914400"/>
          </a:xfrm>
          <a:prstGeom prst="line">
            <a:avLst/>
          </a:prstGeom>
          <a:ln w="15875">
            <a:solidFill>
              <a:srgbClr val="A02B9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331970" y="3127248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buNone/>
            </a:pPr>
            <a:r>
              <a:rPr sz="1000" b="0" i="1">
                <a:solidFill>
                  <a:srgbClr val="A02B93"/>
                </a:solidFill>
                <a:latin typeface="Times New Roman"/>
              </a:rPr>
              <a:t>«include»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6972300" y="2057400"/>
            <a:ext cx="548640" cy="0"/>
          </a:xfrm>
          <a:prstGeom prst="line">
            <a:avLst/>
          </a:prstGeom>
          <a:ln w="15875">
            <a:solidFill>
              <a:srgbClr val="A02B9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789420" y="1755648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buNone/>
            </a:pPr>
            <a:r>
              <a:rPr sz="1000" b="0" i="1">
                <a:solidFill>
                  <a:srgbClr val="A02B93"/>
                </a:solidFill>
                <a:latin typeface="Times New Roman"/>
              </a:rPr>
              <a:t>«include»</a:t>
            </a:r>
          </a:p>
        </p:txBody>
      </p:sp>
    </p:spTree>
    <p:extLst>
      <p:ext uri="{BB962C8B-B14F-4D97-AF65-F5344CB8AC3E}">
        <p14:creationId xmlns:p14="http://schemas.microsoft.com/office/powerpoint/2010/main" val="3398072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D3550-CA14-6FD8-F972-395E64156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Database Design: ER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822960" cy="54864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500" b="0" i="1">
                <a:solidFill>
                  <a:srgbClr val="595959"/>
                </a:solidFill>
                <a:latin typeface="Times New Roman"/>
              </a:rPr>
              <a:t>7 entities with attributes, keys and relationship cardinalities (crow's-foot notation)</a:t>
            </a:r>
          </a:p>
        </p:txBody>
      </p:sp>
      <p:pic>
        <p:nvPicPr>
          <p:cNvPr id="5" name="Picture 4" descr="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11018520" cy="503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65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Database Design: Relational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822960" cy="54864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500" b="0" i="1">
                <a:solidFill>
                  <a:srgbClr val="595959"/>
                </a:solidFill>
                <a:latin typeface="Times New Roman"/>
              </a:rPr>
              <a:t>Primary keys (bold), foreign keys and constraints of the 7 relations in shopdb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109958" cy="4023360"/>
        </p:xfrm>
        <a:graphic>
          <a:graphicData uri="http://schemas.openxmlformats.org/drawingml/2006/table">
            <a:tbl>
              <a:tblPr/>
              <a:tblGrid>
                <a:gridCol w="1503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3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9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Relation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Attributes (PK in bold)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Foreign keys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Constraints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A02B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categories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A02B93"/>
                          </a:solidFill>
                          <a:latin typeface="Times New Roman"/>
                        </a:rPr>
                        <a:t>category_id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, name, description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name UNIQUE, NOT NULL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customers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A02B93"/>
                          </a:solidFill>
                          <a:latin typeface="Times New Roman"/>
                        </a:rPr>
                        <a:t>customer_id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, name, email, phone, address, city, created_at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-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email UNIQUE + CHECK (valid format)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products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A02B93"/>
                          </a:solidFill>
                          <a:latin typeface="Times New Roman"/>
                        </a:rPr>
                        <a:t>product_id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, category_id, name, description, price, stock, updated_at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category_id → categories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CHECK price &gt; 0, stock ≥ 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orders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A02B93"/>
                          </a:solidFill>
                          <a:latin typeface="Times New Roman"/>
                        </a:rPr>
                        <a:t>order_id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, customer_id, order_date, status, total_amount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customer_id → customers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CHECK status IN (pending, processing, shipped, delivered); total ≥ 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order_items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A02B93"/>
                          </a:solidFill>
                          <a:latin typeface="Times New Roman"/>
                        </a:rPr>
                        <a:t>order_item_id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, order_id, product_id, quantity, unit_price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order_id → orders ON DELETE CASCADE; product_id → products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CHECK quantity &gt; 0; UNIQUE (order_id, product_id)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payments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A02B93"/>
                          </a:solidFill>
                          <a:latin typeface="Times New Roman"/>
                        </a:rPr>
                        <a:t>payment_id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, order_id, method, amount, status, paid_at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order_id → orders ON DELETE CASCADE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CHECK method IN (card, upi, netbanking, cod); amount ≥ 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order_status_history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A02B93"/>
                          </a:solidFill>
                          <a:latin typeface="Times New Roman"/>
                        </a:rPr>
                        <a:t>history_id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, order_id, old_status, new_status, changed_at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order_id → orders ON DELETE CASCADE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Written only by a trigger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486400"/>
            <a:ext cx="1110996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A02B93"/>
                </a:solidFill>
                <a:latin typeface="Times New Roman"/>
              </a:rPr>
              <a:t>Relationships:</a:t>
            </a:r>
            <a:r>
              <a:rPr sz="1400" b="0" i="0">
                <a:solidFill>
                  <a:srgbClr val="1A1A1A"/>
                </a:solidFill>
                <a:latin typeface="Times New Roman"/>
              </a:rPr>
              <a:t> customers 1 : N orders · orders 1 : N order_items N : 1 products (orders M : N products) · categories 1 : N products · orders 1 : N payments · orders 1 : N order_status_history</a:t>
            </a:r>
          </a:p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Every FK column is NOT NULL; money uses DECIMAL(10,2); B-tree indexes on every FK and on orders.status.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Normalization: Functional Dependencies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822960" cy="54864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500" b="0" i="1">
                <a:solidFill>
                  <a:srgbClr val="595959"/>
                </a:solidFill>
                <a:latin typeface="Times New Roman"/>
              </a:rPr>
              <a:t>Every determinant is a candidate key, so every relation is in BCNF (and therefore 3NF)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109958" cy="3657600"/>
        </p:xfrm>
        <a:graphic>
          <a:graphicData uri="http://schemas.openxmlformats.org/drawingml/2006/table">
            <a:tbl>
              <a:tblPr/>
              <a:tblGrid>
                <a:gridCol w="1656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2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Relation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Functional dependencies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Candidate keys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NF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A02B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categories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category_id → name, description;   name → category_id, description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{category_id}, {name}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BCNF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customers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customer_id → name, email, phone, address, city, created_at;   email → customer_id, …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{customer_id}, {email}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BCNF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products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product_id → category_id, name, description, price, stock, updated_at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{product_id}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BCNF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orders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order_id → customer_id, order_date, status, total_amount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{order_id}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BCNF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order_items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order_item_id → order_id, product_id, quantity, unit_price;   (order_id, product_id) → order_item_id, quantity, unit_price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{order_item_id}, {order_id, product_id}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BCNF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payments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payment_id → order_id, method, amount, status, paid_at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{payment_id}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BCNF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order_status_history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history_id → order_id, old_status, new_status, changed_at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{history_id}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BCNF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166360"/>
            <a:ext cx="5486400" cy="1554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A02B93"/>
                </a:solidFill>
                <a:latin typeface="Times New Roman"/>
              </a:rPr>
              <a:t>1NF: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 all values atomic; the repeating group of items is its own relation (order_items).</a:t>
            </a:r>
          </a:p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A02B93"/>
                </a:solidFill>
                <a:latin typeface="Times New Roman"/>
              </a:rPr>
              <a:t>2NF: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 no partial dependency; quantity and unit_price need the whole key (order_id, product_id).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5166360"/>
            <a:ext cx="5486400" cy="1554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A02B93"/>
                </a:solidFill>
                <a:latin typeface="Times New Roman"/>
              </a:rPr>
              <a:t>3NF / BCNF: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 no transitive dependency; customer and category details live only in their own tables.</a:t>
            </a:r>
          </a:p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A02B93"/>
                </a:solidFill>
                <a:latin typeface="Times New Roman"/>
              </a:rPr>
              <a:t>unit_price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 is the price at purchase time, not a copy of products.price; </a:t>
            </a:r>
            <a:r>
              <a:rPr sz="1300" b="1" i="0">
                <a:solidFill>
                  <a:srgbClr val="A02B93"/>
                </a:solidFill>
                <a:latin typeface="Times New Roman"/>
              </a:rPr>
              <a:t>total_amount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 is kept correct by a trigger in the same transaction.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Normalization: 1NF → 2NF → 3NF / BCNF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822960" cy="54864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500" b="0" i="1">
                <a:solidFill>
                  <a:srgbClr val="595959"/>
                </a:solidFill>
                <a:latin typeface="Times New Roman"/>
              </a:rPr>
              <a:t>Decomposition from 1NF to BCNF, removing the dependencies that cause anomalies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3489960" cy="457200"/>
          </a:xfrm>
          <a:prstGeom prst="roundRect">
            <a:avLst>
              <a:gd name="adj" fmla="val 6000"/>
            </a:avLst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1NF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34899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3307080" cy="18745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OrderLine(</a:t>
            </a:r>
            <a:r>
              <a:rPr sz="1400" b="1" i="0">
                <a:solidFill>
                  <a:srgbClr val="A02B93"/>
                </a:solidFill>
                <a:latin typeface="Times New Roman"/>
              </a:rPr>
              <a:t>order_id, product_id</a:t>
            </a:r>
            <a:r>
              <a:rPr sz="1400" b="0" i="0">
                <a:solidFill>
                  <a:srgbClr val="1A1A1A"/>
                </a:solidFill>
                <a:latin typeface="Times New Roman"/>
              </a:rPr>
              <a:t>, date, customer_id, customer_name, email, city, product_name, category, qty, unit_price, pay_method, status)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34899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300" b="0" i="1">
                <a:solidFill>
                  <a:srgbClr val="595959"/>
                </a:solidFill>
                <a:latin typeface="Times New Roman"/>
              </a:rPr>
              <a:t>One row per item. Key = (order_id, product_id)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66032" y="3017520"/>
            <a:ext cx="265176" cy="0"/>
          </a:xfrm>
          <a:prstGeom prst="line">
            <a:avLst/>
          </a:prstGeom>
          <a:ln w="31750">
            <a:solidFill>
              <a:srgbClr val="A02B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58640" y="1463040"/>
            <a:ext cx="3489960" cy="457200"/>
          </a:xfrm>
          <a:prstGeom prst="roundRect">
            <a:avLst>
              <a:gd name="adj" fmla="val 6000"/>
            </a:avLst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2NF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8640" y="2011680"/>
            <a:ext cx="34899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50080" y="2103120"/>
            <a:ext cx="3307080" cy="18745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Orders(</a:t>
            </a:r>
            <a:r>
              <a:rPr sz="1400" b="1" i="0">
                <a:solidFill>
                  <a:srgbClr val="A02B93"/>
                </a:solidFill>
                <a:latin typeface="Times New Roman"/>
              </a:rPr>
              <a:t>order_id</a:t>
            </a:r>
            <a:r>
              <a:rPr sz="1400" b="0" i="0">
                <a:solidFill>
                  <a:srgbClr val="1A1A1A"/>
                </a:solidFill>
                <a:latin typeface="Times New Roman"/>
              </a:rPr>
              <a:t>, date, customer_id, customer_name, …, status)  Products(</a:t>
            </a:r>
            <a:r>
              <a:rPr sz="1400" b="1" i="0">
                <a:solidFill>
                  <a:srgbClr val="A02B93"/>
                </a:solidFill>
                <a:latin typeface="Times New Roman"/>
              </a:rPr>
              <a:t>product_id</a:t>
            </a:r>
            <a:r>
              <a:rPr sz="1400" b="0" i="0">
                <a:solidFill>
                  <a:srgbClr val="1A1A1A"/>
                </a:solidFill>
                <a:latin typeface="Times New Roman"/>
              </a:rPr>
              <a:t>, name, category, …)  OrderItems(</a:t>
            </a:r>
            <a:r>
              <a:rPr sz="1400" b="1" i="0">
                <a:solidFill>
                  <a:srgbClr val="A02B93"/>
                </a:solidFill>
                <a:latin typeface="Times New Roman"/>
              </a:rPr>
              <a:t>order_id, product_id</a:t>
            </a:r>
            <a:r>
              <a:rPr sz="1400" b="0" i="0">
                <a:solidFill>
                  <a:srgbClr val="1A1A1A"/>
                </a:solidFill>
                <a:latin typeface="Times New Roman"/>
              </a:rPr>
              <a:t>, qty, unit_price)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8640" y="4160520"/>
            <a:ext cx="34899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300" b="0" i="1">
                <a:solidFill>
                  <a:srgbClr val="595959"/>
                </a:solidFill>
                <a:latin typeface="Times New Roman"/>
              </a:rPr>
              <a:t>Removed partial dependencies: order_id → order data, product_id → product 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76032" y="3017520"/>
            <a:ext cx="265176" cy="0"/>
          </a:xfrm>
          <a:prstGeom prst="line">
            <a:avLst/>
          </a:prstGeom>
          <a:ln w="31750">
            <a:solidFill>
              <a:srgbClr val="A02B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68640" y="1463040"/>
            <a:ext cx="3489960" cy="457200"/>
          </a:xfrm>
          <a:prstGeom prst="roundRect">
            <a:avLst>
              <a:gd name="adj" fmla="val 6000"/>
            </a:avLst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3NF / BCNF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68640" y="2011680"/>
            <a:ext cx="348996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60080" y="2103120"/>
            <a:ext cx="3307080" cy="18745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customers · categories · products · orders · order_items · payments · order_status_history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8640" y="4160520"/>
            <a:ext cx="34899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300" b="0" i="1">
                <a:solidFill>
                  <a:srgbClr val="595959"/>
                </a:solidFill>
                <a:latin typeface="Times New Roman"/>
              </a:rPr>
              <a:t>Removed transitive dependencies: order_id → customer_id → name, email, city; product_id → category_id → category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49240"/>
            <a:ext cx="11109960" cy="1051560"/>
          </a:xfrm>
          <a:prstGeom prst="roundRect">
            <a:avLst>
              <a:gd name="adj" fmla="val 6000"/>
            </a:avLst>
          </a:prstGeom>
          <a:solidFill>
            <a:srgbClr val="F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5440680"/>
            <a:ext cx="1088136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A02B93"/>
                </a:solidFill>
                <a:latin typeface="Times New Roman"/>
              </a:rPr>
              <a:t>Anomalies removed.</a:t>
            </a:r>
            <a:r>
              <a:rPr sz="1500" b="0" i="0">
                <a:solidFill>
                  <a:srgbClr val="1A1A1A"/>
                </a:solidFill>
                <a:latin typeface="Times New Roman"/>
              </a:rPr>
              <a:t> Update: a customer's email changes in one row only. Insert: a new product can exist before anyone orders it. Delete: deleting the last order of a product does not lose the product.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Advanced SQL: Joins and Aggregation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822960" cy="54864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862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500" b="0" i="1" dirty="0">
                <a:solidFill>
                  <a:srgbClr val="595959"/>
                </a:solidFill>
                <a:latin typeface="Times New Roman"/>
              </a:rPr>
              <a:t>Queries run on the live database (1,</a:t>
            </a:r>
            <a:r>
              <a:rPr lang="en-IN" sz="1500" b="0" i="1">
                <a:solidFill>
                  <a:srgbClr val="595959"/>
                </a:solidFill>
                <a:latin typeface="Times New Roman"/>
              </a:rPr>
              <a:t>200</a:t>
            </a:r>
            <a:r>
              <a:rPr sz="1500" b="0" i="1">
                <a:solidFill>
                  <a:srgbClr val="595959"/>
                </a:solidFill>
                <a:latin typeface="Times New Roman"/>
              </a:rPr>
              <a:t> </a:t>
            </a:r>
            <a:r>
              <a:rPr sz="1500" b="0" i="1" dirty="0">
                <a:solidFill>
                  <a:srgbClr val="595959"/>
                </a:solidFill>
                <a:latin typeface="Times New Roman"/>
              </a:rPr>
              <a:t>orders); outputs below each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A1A"/>
                </a:solidFill>
                <a:latin typeface="Times New Roman"/>
              </a:rPr>
              <a:t>Q1. Multi-table JOIN: lines of order #1 (5 tables)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92224"/>
            <a:ext cx="5303520" cy="2057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Consolas"/>
              </a:rPr>
              <a:t>SELECT o.order_id, c.name AS customer, p.name AS product,</a:t>
            </a:r>
          </a:p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cat.name AS category, oi.quantity, oi.unit_price,</a:t>
            </a:r>
          </a:p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oi.quantity * oi.unit_price AS line_total</a:t>
            </a:r>
          </a:p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Consolas"/>
              </a:rPr>
              <a:t>FROM orders o</a:t>
            </a:r>
          </a:p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Consolas"/>
              </a:rPr>
              <a:t>JOIN customers   c   ON c.customer_id   = o.customer_id</a:t>
            </a:r>
          </a:p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Consolas"/>
              </a:rPr>
              <a:t>JOIN order_items oi  ON oi.order_id     = o.order_id</a:t>
            </a:r>
          </a:p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Consolas"/>
              </a:rPr>
              <a:t>JOIN products    p   ON p.product_id    = oi.product_id</a:t>
            </a:r>
          </a:p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Consolas"/>
              </a:rPr>
              <a:t>JOIN categories  cat ON cat.category_id = p.category_id</a:t>
            </a:r>
          </a:p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Consolas"/>
              </a:rPr>
              <a:t>WHERE o.order_id = 1;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069080"/>
          <a:ext cx="5486396" cy="877824"/>
        </p:xfrm>
        <a:graphic>
          <a:graphicData uri="http://schemas.openxmlformats.org/drawingml/2006/table">
            <a:tbl>
              <a:tblPr/>
              <a:tblGrid>
                <a:gridCol w="1155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06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3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18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40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customer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product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qty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unit_price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line_total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A02B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Lakshmi Rao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Wireless Earbuds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Electronics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2499.00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2499.00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Lakshmi Rao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Water Bottle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Home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599.00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1198.00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074920"/>
            <a:ext cx="548640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595959"/>
                </a:solidFill>
                <a:latin typeface="Times New Roman"/>
              </a:rPr>
              <a:t>The application's order view extends this into a </a:t>
            </a:r>
            <a:r>
              <a:rPr sz="1300" b="1" i="0">
                <a:solidFill>
                  <a:srgbClr val="595959"/>
                </a:solidFill>
                <a:latin typeface="Times New Roman"/>
              </a:rPr>
              <a:t>6-table query</a:t>
            </a:r>
            <a:r>
              <a:rPr sz="1300" b="0" i="0">
                <a:solidFill>
                  <a:srgbClr val="595959"/>
                </a:solidFill>
                <a:latin typeface="Times New Roman"/>
              </a:rPr>
              <a:t> with json_agg sub-queries (items, payment, status history) in a single statement.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371600"/>
            <a:ext cx="53949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A1A"/>
                </a:solidFill>
                <a:latin typeface="Times New Roman"/>
              </a:rPr>
              <a:t>Q2. GROUP BY + aggregates: revenue by category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394960" cy="2148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79" y="1792224"/>
            <a:ext cx="5212080" cy="2057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Consolas"/>
              </a:rPr>
              <a:t>SELECT cat.name AS category,</a:t>
            </a:r>
          </a:p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COUNT(DISTINCT oi.order_id)      AS orders,</a:t>
            </a:r>
          </a:p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SUM(oi.quantity)                 AS units,</a:t>
            </a:r>
          </a:p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SUM(oi.quantity * oi.unit_price) AS revenue</a:t>
            </a:r>
          </a:p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Consolas"/>
              </a:rPr>
              <a:t>FROM order_items oi</a:t>
            </a:r>
          </a:p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Consolas"/>
              </a:rPr>
              <a:t>JOIN products p     ON p.product_id = oi.product_id</a:t>
            </a:r>
          </a:p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Consolas"/>
              </a:rPr>
              <a:t>JOIN categories cat ON cat.category_id = p.category_id</a:t>
            </a:r>
          </a:p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Consolas"/>
              </a:rPr>
              <a:t>GROUP BY cat.name</a:t>
            </a:r>
          </a:p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Consolas"/>
              </a:rPr>
              <a:t>ORDER BY revenue DESC;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63640" y="4069080"/>
          <a:ext cx="5394958" cy="2048256"/>
        </p:xfrm>
        <a:graphic>
          <a:graphicData uri="http://schemas.openxmlformats.org/drawingml/2006/table">
            <a:tbl>
              <a:tblPr/>
              <a:tblGrid>
                <a:gridCol w="1659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7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7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9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orders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units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revenue (₹)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A02B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Computers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553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1,284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60,58,716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Electronics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363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754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21,79,346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Home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421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891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17,55,309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Fashion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312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655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15,45,645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Sports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278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552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14,04,948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Books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423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927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10,00,256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Choosing the Right Database for Each Job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822960" cy="54864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500" b="0" i="1">
                <a:solidFill>
                  <a:srgbClr val="595959"/>
                </a:solidFill>
                <a:latin typeface="Times New Roman"/>
              </a:rPr>
              <a:t>Change Data Capture keeps a relational source of truth and a fast key-value read model in 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371600" cy="566928"/>
          </a:xfrm>
          <a:prstGeom prst="roundRect">
            <a:avLst>
              <a:gd name="adj" fmla="val 6000"/>
            </a:avLst>
          </a:prstGeom>
          <a:solidFill>
            <a:srgbClr val="5E3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Write API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38528" y="1746504"/>
            <a:ext cx="21488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71700" y="1463040"/>
            <a:ext cx="1371600" cy="566928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PostgreSQL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1588" y="1746504"/>
            <a:ext cx="21488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94760" y="1463040"/>
            <a:ext cx="1371600" cy="566928"/>
          </a:xfrm>
          <a:prstGeom prst="roundRect">
            <a:avLst>
              <a:gd name="adj" fmla="val 6000"/>
            </a:avLst>
          </a:prstGeom>
          <a:solidFill>
            <a:srgbClr val="FF6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Debezium (WAL)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84648" y="1746504"/>
            <a:ext cx="21488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17820" y="1463040"/>
            <a:ext cx="1371600" cy="56692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Kafka ×3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07708" y="1746504"/>
            <a:ext cx="21488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40880" y="1463040"/>
            <a:ext cx="1371600" cy="566928"/>
          </a:xfrm>
          <a:prstGeom prst="roundRect">
            <a:avLst>
              <a:gd name="adj" fmla="val 6000"/>
            </a:avLst>
          </a:prstGeom>
          <a:solidFill>
            <a:srgbClr val="20A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Consumer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30768" y="1746504"/>
            <a:ext cx="21488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63940" y="1463040"/>
            <a:ext cx="1371600" cy="566928"/>
          </a:xfrm>
          <a:prstGeom prst="roundRect">
            <a:avLst>
              <a:gd name="adj" fmla="val 6000"/>
            </a:avLst>
          </a:prstGeom>
          <a:solidFill>
            <a:srgbClr val="D82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Redis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53828" y="1746504"/>
            <a:ext cx="214884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287000" y="1463040"/>
            <a:ext cx="1371600" cy="566928"/>
          </a:xfrm>
          <a:prstGeom prst="roundRect">
            <a:avLst>
              <a:gd name="adj" fmla="val 6000"/>
            </a:avLst>
          </a:prstGeom>
          <a:solidFill>
            <a:srgbClr val="2EA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Read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103120"/>
            <a:ext cx="111099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buNone/>
            </a:pPr>
            <a:r>
              <a:rPr sz="1300" b="0" i="1">
                <a:solidFill>
                  <a:srgbClr val="595959"/>
                </a:solidFill>
                <a:latin typeface="Times New Roman"/>
              </a:rPr>
              <a:t>Write path → only PostgreSQL.  Every committed change flows through the log into Redis.  Read path → only Redis.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2606040"/>
          <a:ext cx="11109957" cy="2834640"/>
        </p:xfrm>
        <a:graphic>
          <a:graphicData uri="http://schemas.openxmlformats.org/drawingml/2006/table">
            <a:tbl>
              <a:tblPr/>
              <a:tblGrid>
                <a:gridCol w="1469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18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990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Database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Used for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A02B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Why this database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A02B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PostgreSQL 15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Relational (OLTP)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Source of truth: 7 normalized tables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ACID transactions, constraints, triggers, row locks, WAL for logical decoding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Apache Kafka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Distributed commit log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Stream of change events (one topic per table)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Durable and ordered per row; 3 brokers, replication factor 3, survives a broker failure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Redis 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In-memory key-value store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Read model: pre-joined order / customer / product documents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One GET per order: 0.21 ms vs 2.29 ms for the 6-table JOIN (11.1× faster)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Prometheus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Time-series database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Pipeline metrics every 5 s, shown in Grafana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Latency, events/s and lag over time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C6D6"/>
                      </a:solidFill>
                    </a:lnL>
                    <a:lnR w="6350">
                      <a:solidFill>
                        <a:srgbClr val="D9C6D6"/>
                      </a:solidFill>
                    </a:lnR>
                    <a:lnT w="6350">
                      <a:solidFill>
                        <a:srgbClr val="D9C6D6"/>
                      </a:solidFill>
                    </a:lnT>
                    <a:lnB w="6350">
                      <a:solidFill>
                        <a:srgbClr val="D9C6D6"/>
                      </a:solidFill>
                    </a:lnB>
                    <a:solidFill>
                      <a:srgbClr val="F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48640" y="5623560"/>
            <a:ext cx="111099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A02B93"/>
                </a:solidFill>
                <a:latin typeface="Times New Roman"/>
              </a:rPr>
              <a:t>Eventual consistency:</a:t>
            </a:r>
            <a:r>
              <a:rPr sz="1400" b="0" i="0">
                <a:solidFill>
                  <a:srgbClr val="1A1A1A"/>
                </a:solidFill>
                <a:latin typeface="Times New Roman"/>
              </a:rPr>
              <a:t> Redis is typically 150–250 ms behind PostgreSQL and always converges; the consumer is idempotent and commits Kafka offsets only after Redis is updated.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627CB-8F21-443E-5AA9-617BD1667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Work Completed &amp;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822960" cy="54864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500" b="0" i="1">
                <a:solidFill>
                  <a:srgbClr val="595959"/>
                </a:solidFill>
                <a:latin typeface="Times New Roman"/>
              </a:rPr>
              <a:t>What has been completed for the final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6492240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44752"/>
            <a:ext cx="62179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850" b="1" i="0">
                <a:solidFill>
                  <a:srgbClr val="A02B93"/>
                </a:solidFill>
                <a:latin typeface="Times New Roman"/>
              </a:rPr>
              <a:t>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621792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550" b="0" i="0">
                <a:solidFill>
                  <a:srgbClr val="1A1A1A"/>
                </a:solidFill>
                <a:latin typeface="Times New Roman"/>
              </a:rPr>
              <a:t>ER model, relational schema and 3NF/BCNF design of 7 tables with seed data (200 customers, 1,200+ orders)</a:t>
            </a:r>
          </a:p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550" b="0" i="0">
                <a:solidFill>
                  <a:srgbClr val="1A1A1A"/>
                </a:solidFill>
                <a:latin typeface="Times New Roman"/>
              </a:rPr>
              <a:t>DDL with PK, FK, CHECK, UNIQUE, ON DELETE CASCADE, indexes, 3 triggers and least-privilege roles</a:t>
            </a:r>
          </a:p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550" b="0" i="0">
                <a:solidFill>
                  <a:srgbClr val="1A1A1A"/>
                </a:solidFill>
                <a:latin typeface="Times New Roman"/>
              </a:rPr>
              <a:t>Write API (Flask) with ACID transactions, row locking and parameterized queries</a:t>
            </a:r>
          </a:p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550" b="0" i="0">
                <a:solidFill>
                  <a:srgbClr val="1A1A1A"/>
                </a:solidFill>
                <a:latin typeface="Times New Roman"/>
              </a:rPr>
              <a:t>Change Data Capture: Debezium → 3-broker Kafka → consumer → Redis read model</a:t>
            </a:r>
          </a:p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550" b="0" i="0">
                <a:solidFill>
                  <a:srgbClr val="1A1A1A"/>
                </a:solidFill>
                <a:latin typeface="Times New Roman"/>
              </a:rPr>
              <a:t>Read API (Redis only) and web app: Shop, Orders, How it works</a:t>
            </a:r>
          </a:p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550" b="0" i="0">
                <a:solidFill>
                  <a:srgbClr val="1A1A1A"/>
                </a:solidFill>
                <a:latin typeface="Times New Roman"/>
              </a:rPr>
              <a:t>Advanced SQL queries, benchmark, consistency check and dual-write failure demo</a:t>
            </a:r>
          </a:p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550" b="0" i="0">
                <a:solidFill>
                  <a:srgbClr val="1A1A1A"/>
                </a:solidFill>
                <a:latin typeface="Times New Roman"/>
              </a:rPr>
              <a:t>15 automated end-to-end tests; Grafana monitoring; deployed with Docker on Microsoft Azure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371600"/>
            <a:ext cx="4389120" cy="1188720"/>
          </a:xfrm>
          <a:prstGeom prst="roundRect">
            <a:avLst>
              <a:gd name="adj" fmla="val 6000"/>
            </a:avLst>
          </a:prstGeom>
          <a:solidFill>
            <a:srgbClr val="F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173736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A02B93"/>
                </a:solidFill>
                <a:latin typeface="Times New Roman"/>
              </a:rPr>
              <a:t>15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1463040"/>
            <a:ext cx="237744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end-to-end tests passed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2697480"/>
            <a:ext cx="4389120" cy="1188720"/>
          </a:xfrm>
          <a:prstGeom prst="roundRect">
            <a:avLst>
              <a:gd name="adj" fmla="val 6000"/>
            </a:avLst>
          </a:prstGeom>
          <a:solidFill>
            <a:srgbClr val="F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0" y="2788920"/>
            <a:ext cx="173736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A02B93"/>
                </a:solidFill>
                <a:latin typeface="Times New Roman"/>
              </a:rPr>
              <a:t>11.1×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2788920"/>
            <a:ext cx="237744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faster reads from Redis than the 6-table JOIN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4023360"/>
            <a:ext cx="4389120" cy="1188720"/>
          </a:xfrm>
          <a:prstGeom prst="roundRect">
            <a:avLst>
              <a:gd name="adj" fmla="val 6000"/>
            </a:avLst>
          </a:prstGeom>
          <a:solidFill>
            <a:srgbClr val="F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4114800"/>
            <a:ext cx="173736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A02B93"/>
                </a:solidFill>
                <a:latin typeface="Times New Roman"/>
              </a:rPr>
              <a:t>≈ 245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4114800"/>
            <a:ext cx="237744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commit → Redis (p95)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5349240"/>
            <a:ext cx="4389120" cy="1188720"/>
          </a:xfrm>
          <a:prstGeom prst="roundRect">
            <a:avLst>
              <a:gd name="adj" fmla="val 6000"/>
            </a:avLst>
          </a:prstGeom>
          <a:solidFill>
            <a:srgbClr val="F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06640" y="5440679"/>
            <a:ext cx="173736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A02B93"/>
                </a:solidFill>
                <a:latin typeface="Times New Roman"/>
              </a:rPr>
              <a:t>30 / 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5440679"/>
            <a:ext cx="237744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orders survived a Kafka broker failure</a:t>
            </a:r>
          </a:p>
        </p:txBody>
      </p:sp>
    </p:spTree>
    <p:extLst>
      <p:ext uri="{BB962C8B-B14F-4D97-AF65-F5344CB8AC3E}">
        <p14:creationId xmlns:p14="http://schemas.microsoft.com/office/powerpoint/2010/main" val="230239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Output: Web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822960" cy="54864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500" b="0" i="1">
                <a:solidFill>
                  <a:srgbClr val="595959"/>
                </a:solidFill>
                <a:latin typeface="Times New Roman"/>
              </a:rPr>
              <a:t>Every read below comes from Redis; every change was written to PostgreSQL only</a:t>
            </a:r>
          </a:p>
        </p:txBody>
      </p:sp>
      <p:pic>
        <p:nvPicPr>
          <p:cNvPr id="5" name="Picture 4" descr="s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400800" cy="384048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303520"/>
            <a:ext cx="6400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buNone/>
            </a:pPr>
            <a:r>
              <a:rPr sz="1300" b="0" i="1">
                <a:solidFill>
                  <a:srgbClr val="595959"/>
                </a:solidFill>
                <a:latin typeface="Times New Roman"/>
              </a:rPr>
              <a:t>Shop: catalogue and stock read from Redis; orders written to PostgreSQL</a:t>
            </a:r>
          </a:p>
        </p:txBody>
      </p:sp>
      <p:pic>
        <p:nvPicPr>
          <p:cNvPr id="7" name="Picture 6" descr="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417320"/>
            <a:ext cx="4480560" cy="2688336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178040" y="4151376"/>
            <a:ext cx="448056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buNone/>
            </a:pPr>
            <a:r>
              <a:rPr sz="1300" b="0" i="1">
                <a:solidFill>
                  <a:srgbClr val="595959"/>
                </a:solidFill>
                <a:latin typeface="Times New Roman"/>
              </a:rPr>
              <a:t>Orders: list from a Redis sorted set; one GET returns a full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4837176"/>
            <a:ext cx="448056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A02B93"/>
                </a:solidFill>
                <a:latin typeface="Times New Roman"/>
              </a:rPr>
              <a:t>Write path:</a:t>
            </a:r>
            <a:r>
              <a:rPr sz="1400" b="0" i="0">
                <a:solidFill>
                  <a:srgbClr val="1A1A1A"/>
                </a:solidFill>
                <a:latin typeface="Times New Roman"/>
              </a:rPr>
              <a:t> Write API → PostgreSQL only</a:t>
            </a:r>
          </a:p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A02B93"/>
                </a:solidFill>
                <a:latin typeface="Times New Roman"/>
              </a:rPr>
              <a:t>Read path:</a:t>
            </a:r>
            <a:r>
              <a:rPr sz="1400" b="0" i="0">
                <a:solidFill>
                  <a:srgbClr val="1A1A1A"/>
                </a:solidFill>
                <a:latin typeface="Times New Roman"/>
              </a:rPr>
              <a:t> Read API → Redis only</a:t>
            </a:r>
          </a:p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A02B93"/>
                </a:solidFill>
                <a:latin typeface="Times New Roman"/>
              </a:rPr>
              <a:t>Live:</a:t>
            </a:r>
            <a:r>
              <a:rPr sz="1400" b="0" i="0">
                <a:solidFill>
                  <a:srgbClr val="1A1A1A"/>
                </a:solidFill>
                <a:latin typeface="Times New Roman"/>
              </a:rPr>
              <a:t> the header shows the commit → Redis delay (≈ 262 ms)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Output: Live Pipeline and Monitoring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822960" cy="54864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500" b="0" i="1">
                <a:solidFill>
                  <a:srgbClr val="595959"/>
                </a:solidFill>
                <a:latin typeface="Times New Roman"/>
              </a:rPr>
              <a:t>Change stream, KPIs and the Grafana dashboard during a 20-order burst</a:t>
            </a:r>
          </a:p>
        </p:txBody>
      </p:sp>
      <p:pic>
        <p:nvPicPr>
          <p:cNvPr id="5" name="Picture 4" descr="h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5486400" cy="32918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buNone/>
            </a:pPr>
            <a:r>
              <a:rPr sz="1300" b="0" i="1">
                <a:solidFill>
                  <a:srgbClr val="595959"/>
                </a:solidFill>
                <a:latin typeface="Times New Roman"/>
              </a:rPr>
              <a:t>How it works: live change stream, KPIs, benchmark and consistency check</a:t>
            </a:r>
          </a:p>
        </p:txBody>
      </p:sp>
      <p:pic>
        <p:nvPicPr>
          <p:cNvPr id="7" name="Picture 6" descr="graf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486400" cy="28803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172200" y="4343400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buNone/>
            </a:pPr>
            <a:r>
              <a:rPr sz="1300" b="0" i="1">
                <a:solidFill>
                  <a:srgbClr val="595959"/>
                </a:solidFill>
                <a:latin typeface="Times New Roman"/>
              </a:rPr>
              <a:t>Grafana: change events/s, commit → Redis latency, Kafka lag, Redis hit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57800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F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5321808"/>
            <a:ext cx="2103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buNone/>
            </a:pPr>
            <a:r>
              <a:rPr sz="2600" b="1" i="0">
                <a:solidFill>
                  <a:srgbClr val="A02B93"/>
                </a:solidFill>
                <a:latin typeface="Times New Roman"/>
              </a:rPr>
              <a:t>1,304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21031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buNone/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orders in Redis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5257800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F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07208" y="5321808"/>
            <a:ext cx="2103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buNone/>
            </a:pPr>
            <a:r>
              <a:rPr sz="2600" b="1" i="0">
                <a:solidFill>
                  <a:srgbClr val="A02B93"/>
                </a:solidFill>
                <a:latin typeface="Times New Roman"/>
              </a:rPr>
              <a:t>9,511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5943600"/>
            <a:ext cx="21031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buNone/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change events applied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5776" y="5257800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F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65776" y="5321808"/>
            <a:ext cx="2103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buNone/>
            </a:pPr>
            <a:r>
              <a:rPr sz="2600" b="1" i="0">
                <a:solidFill>
                  <a:srgbClr val="A02B93"/>
                </a:solidFill>
                <a:latin typeface="Times New Roman"/>
              </a:rPr>
              <a:t>262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5776" y="5943600"/>
            <a:ext cx="21031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buNone/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commit → Redis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24344" y="5257800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F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24344" y="5321808"/>
            <a:ext cx="2103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buNone/>
            </a:pPr>
            <a:r>
              <a:rPr sz="2600" b="1" i="0">
                <a:solidFill>
                  <a:srgbClr val="A02B93"/>
                </a:solidFill>
                <a:latin typeface="Times New Roman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24344" y="5943600"/>
            <a:ext cx="21031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buNone/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Kafka consumer lag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82912" y="5257800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F8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82912" y="5321808"/>
            <a:ext cx="2103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buNone/>
            </a:pPr>
            <a:r>
              <a:rPr sz="2600" b="1" i="0">
                <a:solidFill>
                  <a:srgbClr val="A02B93"/>
                </a:solidFill>
                <a:latin typeface="Times New Roman"/>
              </a:rPr>
              <a:t>99.3 %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2912" y="5943600"/>
            <a:ext cx="21031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buNone/>
            </a:pPr>
            <a:r>
              <a:rPr sz="1300" b="0" i="0">
                <a:solidFill>
                  <a:srgbClr val="1A1A1A"/>
                </a:solidFill>
                <a:latin typeface="Times New Roman"/>
              </a:rPr>
              <a:t>Redis hit rate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1A1A1A"/>
                </a:solidFill>
                <a:latin typeface="Times New Roman"/>
              </a:rPr>
              <a:t>Conclusion and Possible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822960" cy="54864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7607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A02B93"/>
                </a:solidFill>
                <a:latin typeface="Times New Roman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486400" cy="2834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A normalized (BCNF) PostgreSQL schema with constraints, triggers and ACID transactions is the single source of truth.</a:t>
            </a:r>
          </a:p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Change Data Capture removes the dual-write problem: the application writes once, and Redis is derived from the log.</a:t>
            </a:r>
          </a:p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Reads are 11.1× faster and never load the transactional database; all 15 tests pass.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188720"/>
            <a:ext cx="512064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261872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900" b="1" i="0">
                <a:solidFill>
                  <a:srgbClr val="A02B93"/>
                </a:solidFill>
                <a:latin typeface="Times New Roman"/>
              </a:rPr>
              <a:t>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846320" cy="2834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600" b="0" i="0" dirty="0">
                <a:solidFill>
                  <a:srgbClr val="1A1A1A"/>
                </a:solidFill>
                <a:latin typeface="Times New Roman"/>
              </a:rPr>
              <a:t>Table partitioning and materialized views for reporting</a:t>
            </a:r>
          </a:p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600" b="0" i="0" dirty="0">
                <a:solidFill>
                  <a:srgbClr val="1A1A1A"/>
                </a:solidFill>
                <a:latin typeface="Times New Roman"/>
              </a:rPr>
              <a:t>User authentication with row-level security</a:t>
            </a:r>
          </a:p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600" b="0" i="0" dirty="0">
                <a:solidFill>
                  <a:srgbClr val="1A1A1A"/>
                </a:solidFill>
                <a:latin typeface="Times New Roman"/>
              </a:rPr>
              <a:t>Managed cloud databases (Azure Database for PostgreSQL, Azure Cache for Redis)</a:t>
            </a:r>
          </a:p>
          <a:p>
            <a:pPr marL="256032" indent="-219456" algn="l">
              <a:spcAft>
                <a:spcPts val="600"/>
              </a:spcAft>
              <a:buFont typeface="Arial"/>
              <a:buChar char="•"/>
            </a:pPr>
            <a:r>
              <a:rPr sz="1600" b="0" i="0" dirty="0">
                <a:solidFill>
                  <a:srgbClr val="1A1A1A"/>
                </a:solidFill>
                <a:latin typeface="Times New Roman"/>
              </a:rPr>
              <a:t>Use the change stream for ML features: demand forecasting and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00600"/>
            <a:ext cx="111099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A1A"/>
                </a:solidFill>
                <a:latin typeface="Times New Roman"/>
              </a:rPr>
              <a:t>Course outcomes covered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212080"/>
            <a:ext cx="2103120" cy="566928"/>
          </a:xfrm>
          <a:prstGeom prst="roundRect">
            <a:avLst>
              <a:gd name="adj" fmla="val 6000"/>
            </a:avLst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CO1: SQL &amp; PL/pgSQL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5212080"/>
            <a:ext cx="2103120" cy="566928"/>
          </a:xfrm>
          <a:prstGeom prst="roundRect">
            <a:avLst>
              <a:gd name="adj" fmla="val 6000"/>
            </a:avLst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CO2: ER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5776" y="5212080"/>
            <a:ext cx="2103120" cy="566928"/>
          </a:xfrm>
          <a:prstGeom prst="roundRect">
            <a:avLst>
              <a:gd name="adj" fmla="val 6000"/>
            </a:avLst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CO3: Normalization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24344" y="5212080"/>
            <a:ext cx="2103120" cy="566928"/>
          </a:xfrm>
          <a:prstGeom prst="roundRect">
            <a:avLst>
              <a:gd name="adj" fmla="val 6000"/>
            </a:avLst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CO4: Transactions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82912" y="5212080"/>
            <a:ext cx="2103120" cy="566928"/>
          </a:xfrm>
          <a:prstGeom prst="roundRect">
            <a:avLst>
              <a:gd name="adj" fmla="val 6000"/>
            </a:avLst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CO5: Right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89320"/>
            <a:ext cx="111099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</a:rPr>
              <a:t>GitHub: github.com/aamithkishoretj/CDC-pipeline-CC-DBMS-</a:t>
            </a:r>
          </a:p>
        </p:txBody>
      </p:sp>
    </p:spTree>
    <p:extLst>
      <p:ext uri="{BB962C8B-B14F-4D97-AF65-F5344CB8AC3E}">
        <p14:creationId xmlns:p14="http://schemas.microsoft.com/office/powerpoint/2010/main" val="527201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7C55B3-47D4-DA03-73DB-7B493CF0D79C}"/>
              </a:ext>
            </a:extLst>
          </p:cNvPr>
          <p:cNvSpPr/>
          <p:nvPr/>
        </p:nvSpPr>
        <p:spPr>
          <a:xfrm>
            <a:off x="4135048" y="2967335"/>
            <a:ext cx="392190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36583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2311</Words>
  <Application>Microsoft Office PowerPoint</Application>
  <PresentationFormat>Widescreen</PresentationFormat>
  <Paragraphs>288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Times New Roman</vt:lpstr>
      <vt:lpstr>Office Theme</vt:lpstr>
      <vt:lpstr>Real-Time CDC Pipeline for an E-Commerce Database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Aswathy Sreekumar - [CEN - ASAI]</dc:creator>
  <cp:lastModifiedBy>Aamith Kishore T J</cp:lastModifiedBy>
  <cp:revision>4</cp:revision>
  <dcterms:created xsi:type="dcterms:W3CDTF">2026-08-10T14:57:35Z</dcterms:created>
  <dcterms:modified xsi:type="dcterms:W3CDTF">2026-10-23T05:01:35Z</dcterms:modified>
</cp:coreProperties>
</file>