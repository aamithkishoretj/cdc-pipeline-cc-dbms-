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f905e0f-c349-9831-2d2a-61083da6cd32}">
          <p14:sldIdLst>
            <p14:sldId id="256"/>
            <p14:sldId id="257"/>
            <p14:sldId id="258"/>
          </p14:sldIdLst>
        </p14:section>
        <p14:section name="Results" id="{aa6bcee4-0ae5-30ba-d9d1-c82edffac6df}">
          <p14:sldIdLst>
            <p14:sldId id="259"/>
            <p14:sldId id="260"/>
            <p14:sldId id="261"/>
            <p14:sldId id="262"/>
          </p14:sldIdLst>
        </p14:section>
        <p14:section name="Conclusion" id="{f83356b7-d7aa-aefa-6acf-8a5ebfb77e8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Average latency per full order read (ms,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 6-table JOIN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Reads only</c:v>
                  </c:pt>
                  <c:pt idx="1">
                    <c:v>Reads + 4 concurrent writers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1.24</c:v>
                </c:pt>
                <c:pt idx="1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Redis pre-joined view</c:v>
                </c:pt>
              </c:strCache>
            </c:strRef>
          </c:tx>
          <c:spPr>
            <a:solidFill>
              <a:srgbClr val="1F5A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Reads only</c:v>
                  </c:pt>
                  <c:pt idx="1">
                    <c:v>Reads + 4 concurrent writers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0.16</c:v>
                </c:pt>
                <c:pt idx="1">
                  <c:v>0.45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5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the Review 1 ER slide. Seven tables in 3NF. The old slide said products 1:N orders; with order_items, orders and products are many-to-many, resolved by order_items, which also stores the price at purchase time. Crow's foot: two bars = exactly one, circle + crow's foot = zero or many. All foreign keys are NOT NULL; order_items, payments and order_status_history cascade on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the Review 1 relational schema slide, which had its columns shifted. Every money column is DECIMAL(10,2), status values are enforced by CHECK, and three triggers keep derived data correct inside the same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to end: Write API -&gt; PostgreSQL (one transaction) -&gt; WAL -&gt; Debezium -&gt; Kafka (3 brokers) -&gt; consumer -&gt; Redis -&gt; Read API. Prometheus scrapes the consumer and Grafana charts it. All of it runs with one command: docker compose up -d --build.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benchmark/benchmark.py: 4,000 reads per path, 4 reader processes, full order document. Postgres runs a 6-table JOIN on the OLTP database; Redis is one GET of the document the consumer pre-built. Key point: with concurrent writes, Postgres reads nearly double (1.24 -&gt; 2.20 ms). That is the heavy-read bottleneck from the problem statement, and Redis takes that read load off the database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tests/test_failover.py does this live: it stops a broker with docker stop, keeps placing orders through the Write API, checks every one arrives in Redis, then restarts the broker and waits for full replication. Recovery takes 1 to 16 s depending on whether the stopped broker coordinated the consumer group; nothing is lost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consumer exports Prometheus metrics on port 8000; Prometheus scrapes every 5 s; the Grafana dashboard is provisioned automatically at http://localhost:3000. These are exactly the metrics promised in the Review 1 future-work slide: Kafka lag, Redis hit rate and consumer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k8s/k3s-local.ps1 creates a real Kubernetes cluster inside Docker, loads the images, applies all the manifests and waits for the pods. Network policies were probed from inside the pods: allowed paths connect, blocked paths are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the Review 1 'Future Work' slide: every Review 2 goal on it is now done and measured. Remaining limits: single-node Postgres and Redis, and the demo runs on one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CDC Pipeline ·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 Diagram</a:t>
            </a:r>
            <a:endParaRPr lang="en-US" sz="3400" dirty="0"/>
          </a:p>
        </p:txBody>
      </p:sp>
      <p:pic>
        <p:nvPicPr>
          <p:cNvPr id="3" name="er-diagram" descr="ER diagram of the 7-table shopdb schema in crow's foot no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59" y="1261872"/>
            <a:ext cx="10182578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Relational Schema</a:t>
            </a:r>
            <a:endParaRPr lang="en-US" sz="3400" dirty="0"/>
          </a:p>
        </p:txBody>
      </p:sp>
      <p:graphicFrame>
        <p:nvGraphicFramePr>
          <p:cNvPr id="3" name="schem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554480"/>
                <a:gridCol w="3246120"/>
                <a:gridCol w="4114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Primary key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Foreign keys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Key attributes and constraints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category_id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name UNIQUE, description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customers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customer_id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name, email UNIQUE + CHECK, phone, address, city, created_at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product_id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category_id → categories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price DECIMAL(10,2) CHECK &gt; 0, stock CHECK ≥ 0, updated_at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customer_id → customers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order_date, status CHECK IN (4 values), total_amount CHECK ≥ 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order_item_id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order_id → orders (CASCADE), product_id → products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quantity CHECK &gt; 0, unit_price, UNIQUE (order_id, product_id)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payments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order_id → orders (CASCADE)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method CHECK, amount, status CHECK, paid_at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order_status_history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history_id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order_id → orders (CASCADE)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old_status, new_status, changed_at (written by trigger)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-1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77240" y="548640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Triggers: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total = Σ quantity × unit_price · every status change logged · products.updated_at. 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CDC: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wal_level = logical, REPLICA IDENTITY FULL on all 7 tables.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card-3"/>
          <p:cNvSpPr/>
          <p:nvPr/>
        </p:nvSpPr>
        <p:spPr>
          <a:xfrm>
            <a:off x="548640" y="1325880"/>
            <a:ext cx="342900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"/>
          <p:cNvSpPr txBox="1"/>
          <p:nvPr/>
        </p:nvSpPr>
        <p:spPr>
          <a:xfrm>
            <a:off x="777240" y="1463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WRITE PATH</a:t>
            </a:r>
            <a:endParaRPr lang="en-US" sz="1100" dirty="0"/>
          </a:p>
        </p:txBody>
      </p:sp>
      <p:sp>
        <p:nvSpPr>
          <p:cNvPr id="5" name="card-5"/>
          <p:cNvSpPr/>
          <p:nvPr/>
        </p:nvSpPr>
        <p:spPr>
          <a:xfrm>
            <a:off x="4160520" y="1325880"/>
            <a:ext cx="388620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6"/>
          <p:cNvSpPr txBox="1"/>
          <p:nvPr/>
        </p:nvSpPr>
        <p:spPr>
          <a:xfrm>
            <a:off x="438912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CHANGE DATA CAPTURE</a:t>
            </a:r>
            <a:endParaRPr lang="en-US" sz="1100" dirty="0"/>
          </a:p>
        </p:txBody>
      </p:sp>
      <p:sp>
        <p:nvSpPr>
          <p:cNvPr id="7" name="card-7"/>
          <p:cNvSpPr/>
          <p:nvPr/>
        </p:nvSpPr>
        <p:spPr>
          <a:xfrm>
            <a:off x="8229600" y="1325880"/>
            <a:ext cx="341071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"/>
          <p:cNvSpPr txBox="1"/>
          <p:nvPr/>
        </p:nvSpPr>
        <p:spPr>
          <a:xfrm>
            <a:off x="8458200" y="1463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READ PATH</a:t>
            </a:r>
            <a:endParaRPr lang="en-US" sz="1100" dirty="0"/>
          </a:p>
        </p:txBody>
      </p:sp>
      <p:sp>
        <p:nvSpPr>
          <p:cNvPr id="9" name="card-9"/>
          <p:cNvSpPr/>
          <p:nvPr/>
        </p:nvSpPr>
        <p:spPr>
          <a:xfrm>
            <a:off x="77724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10"/>
          <p:cNvSpPr txBox="1"/>
          <p:nvPr/>
        </p:nvSpPr>
        <p:spPr>
          <a:xfrm>
            <a:off x="85039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Write API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 System · Flask</a:t>
            </a:r>
            <a:endParaRPr lang="en-US" sz="1600" dirty="0"/>
          </a:p>
        </p:txBody>
      </p:sp>
      <p:sp>
        <p:nvSpPr>
          <p:cNvPr id="11" name="arrow-11"/>
          <p:cNvSpPr/>
          <p:nvPr/>
        </p:nvSpPr>
        <p:spPr>
          <a:xfrm>
            <a:off x="2240280" y="2628900"/>
            <a:ext cx="914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-12"/>
          <p:cNvSpPr/>
          <p:nvPr/>
        </p:nvSpPr>
        <p:spPr>
          <a:xfrm>
            <a:off x="237744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13"/>
          <p:cNvSpPr txBox="1"/>
          <p:nvPr/>
        </p:nvSpPr>
        <p:spPr>
          <a:xfrm>
            <a:off x="245059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7 tables · source of truth</a:t>
            </a:r>
            <a:endParaRPr lang="en-US" sz="1600" dirty="0"/>
          </a:p>
        </p:txBody>
      </p:sp>
      <p:sp>
        <p:nvSpPr>
          <p:cNvPr id="14" name="arrow-14"/>
          <p:cNvSpPr/>
          <p:nvPr/>
        </p:nvSpPr>
        <p:spPr>
          <a:xfrm>
            <a:off x="3840480" y="2628900"/>
            <a:ext cx="5029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card-15"/>
          <p:cNvSpPr/>
          <p:nvPr/>
        </p:nvSpPr>
        <p:spPr>
          <a:xfrm>
            <a:off x="438912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-16"/>
          <p:cNvSpPr txBox="1"/>
          <p:nvPr/>
        </p:nvSpPr>
        <p:spPr>
          <a:xfrm>
            <a:off x="446227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Debezium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reads the WAL</a:t>
            </a:r>
            <a:endParaRPr lang="en-US" sz="1600" dirty="0"/>
          </a:p>
        </p:txBody>
      </p:sp>
      <p:sp>
        <p:nvSpPr>
          <p:cNvPr id="17" name="arrow-17"/>
          <p:cNvSpPr/>
          <p:nvPr/>
        </p:nvSpPr>
        <p:spPr>
          <a:xfrm>
            <a:off x="5852160" y="2628900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ard-18"/>
          <p:cNvSpPr/>
          <p:nvPr/>
        </p:nvSpPr>
        <p:spPr>
          <a:xfrm>
            <a:off x="603504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-19"/>
          <p:cNvSpPr txBox="1"/>
          <p:nvPr/>
        </p:nvSpPr>
        <p:spPr>
          <a:xfrm>
            <a:off x="610819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Kafka ×3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RF 3 · min ISR 2</a:t>
            </a:r>
            <a:endParaRPr lang="en-US" sz="1600" dirty="0"/>
          </a:p>
        </p:txBody>
      </p:sp>
      <p:sp>
        <p:nvSpPr>
          <p:cNvPr id="20" name="arrow-20"/>
          <p:cNvSpPr/>
          <p:nvPr/>
        </p:nvSpPr>
        <p:spPr>
          <a:xfrm>
            <a:off x="7498080" y="2628900"/>
            <a:ext cx="914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ard-21"/>
          <p:cNvSpPr/>
          <p:nvPr/>
        </p:nvSpPr>
        <p:spPr>
          <a:xfrm>
            <a:off x="845820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22"/>
          <p:cNvSpPr txBox="1"/>
          <p:nvPr/>
        </p:nvSpPr>
        <p:spPr>
          <a:xfrm>
            <a:off x="853135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Consumer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builds read views</a:t>
            </a:r>
            <a:endParaRPr lang="en-US" sz="1600" dirty="0"/>
          </a:p>
        </p:txBody>
      </p:sp>
      <p:sp>
        <p:nvSpPr>
          <p:cNvPr id="23" name="arrow-23"/>
          <p:cNvSpPr/>
          <p:nvPr/>
        </p:nvSpPr>
        <p:spPr>
          <a:xfrm>
            <a:off x="9921240" y="2628900"/>
            <a:ext cx="914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ard-24"/>
          <p:cNvSpPr/>
          <p:nvPr/>
        </p:nvSpPr>
        <p:spPr>
          <a:xfrm>
            <a:off x="10058400" y="2057400"/>
            <a:ext cx="141732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25"/>
          <p:cNvSpPr txBox="1"/>
          <p:nvPr/>
        </p:nvSpPr>
        <p:spPr>
          <a:xfrm>
            <a:off x="10131552" y="2057400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Redis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read model</a:t>
            </a:r>
            <a:endParaRPr lang="en-US" sz="1600" dirty="0"/>
          </a:p>
        </p:txBody>
      </p:sp>
      <p:sp>
        <p:nvSpPr>
          <p:cNvPr id="26" name="card-26"/>
          <p:cNvSpPr/>
          <p:nvPr/>
        </p:nvSpPr>
        <p:spPr>
          <a:xfrm>
            <a:off x="10058400" y="3429000"/>
            <a:ext cx="1417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-27"/>
          <p:cNvSpPr txBox="1"/>
          <p:nvPr/>
        </p:nvSpPr>
        <p:spPr>
          <a:xfrm>
            <a:off x="10104120" y="34290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customers</a:t>
            </a:r>
            <a:endParaRPr lang="en-US" sz="1400" dirty="0"/>
          </a:p>
        </p:txBody>
      </p:sp>
      <p:sp>
        <p:nvSpPr>
          <p:cNvPr id="28" name="arrow-read"/>
          <p:cNvSpPr/>
          <p:nvPr/>
        </p:nvSpPr>
        <p:spPr>
          <a:xfrm>
            <a:off x="10767060" y="321868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-28"/>
          <p:cNvSpPr txBox="1"/>
          <p:nvPr/>
        </p:nvSpPr>
        <p:spPr>
          <a:xfrm>
            <a:off x="438912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Kafka cluster: 3 brokers, every event on 3 replicas</a:t>
            </a:r>
            <a:endParaRPr lang="en-US" sz="1200" dirty="0"/>
          </a:p>
        </p:txBody>
      </p:sp>
      <p:sp>
        <p:nvSpPr>
          <p:cNvPr id="30" name="check-29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-30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2" name="text-31"/>
          <p:cNvSpPr txBox="1"/>
          <p:nvPr/>
        </p:nvSpPr>
        <p:spPr>
          <a:xfrm>
            <a:off x="1097280" y="4526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Single write path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app writes only to PostgreSQL, in one ACID transaction. It never writes the cache.</a:t>
            </a:r>
            <a:endParaRPr lang="en-US" sz="1600" dirty="0"/>
          </a:p>
        </p:txBody>
      </p:sp>
      <p:sp>
        <p:nvSpPr>
          <p:cNvPr id="33" name="check-32"/>
          <p:cNvSpPr/>
          <p:nvPr/>
        </p:nvSpPr>
        <p:spPr>
          <a:xfrm>
            <a:off x="4297680" y="4572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-33"/>
          <p:cNvSpPr txBox="1"/>
          <p:nvPr/>
        </p:nvSpPr>
        <p:spPr>
          <a:xfrm>
            <a:off x="42976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5" name="text-34"/>
          <p:cNvSpPr txBox="1"/>
          <p:nvPr/>
        </p:nvSpPr>
        <p:spPr>
          <a:xfrm>
            <a:off x="4846320" y="4526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Durable, ordered log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Debezium turns each committed row change into a Kafka event, keyed by primary key.</a:t>
            </a:r>
            <a:endParaRPr lang="en-US" sz="1600" dirty="0"/>
          </a:p>
        </p:txBody>
      </p:sp>
      <p:sp>
        <p:nvSpPr>
          <p:cNvPr id="36" name="check-35"/>
          <p:cNvSpPr/>
          <p:nvPr/>
        </p:nvSpPr>
        <p:spPr>
          <a:xfrm>
            <a:off x="8046720" y="4572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-36"/>
          <p:cNvSpPr txBox="1"/>
          <p:nvPr/>
        </p:nvSpPr>
        <p:spPr>
          <a:xfrm>
            <a:off x="804672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8" name="text-37"/>
          <p:cNvSpPr txBox="1"/>
          <p:nvPr/>
        </p:nvSpPr>
        <p:spPr>
          <a:xfrm>
            <a:off x="8595360" y="4526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Fast, eventually consistent reads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Redis holds pre-joined documents: one GET per order. Converges to PostgreSQL in ~120 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Results: Read Performance</a:t>
            </a:r>
            <a:endParaRPr lang="en-US" sz="3400" dirty="0"/>
          </a:p>
        </p:txBody>
      </p:sp>
      <p:sp>
        <p:nvSpPr>
          <p:cNvPr id="3" name="card-38"/>
          <p:cNvSpPr/>
          <p:nvPr/>
        </p:nvSpPr>
        <p:spPr>
          <a:xfrm>
            <a:off x="548640" y="1325880"/>
            <a:ext cx="676656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4" name="latency-chart" descr=""/>
          <p:cNvGraphicFramePr/>
          <p:nvPr/>
        </p:nvGraphicFramePr>
        <p:xfrm>
          <a:off x="731520" y="1463040"/>
          <a:ext cx="64008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39"/>
          <p:cNvSpPr/>
          <p:nvPr/>
        </p:nvSpPr>
        <p:spPr>
          <a:xfrm>
            <a:off x="7589520" y="132588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40"/>
          <p:cNvSpPr txBox="1"/>
          <p:nvPr/>
        </p:nvSpPr>
        <p:spPr>
          <a:xfrm>
            <a:off x="7772400" y="13258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7.9×</a:t>
            </a:r>
            <a:endParaRPr lang="en-US" sz="3000" dirty="0"/>
          </a:p>
        </p:txBody>
      </p:sp>
      <p:sp>
        <p:nvSpPr>
          <p:cNvPr id="7" name="text-41"/>
          <p:cNvSpPr txBox="1"/>
          <p:nvPr/>
        </p:nvSpPr>
        <p:spPr>
          <a:xfrm>
            <a:off x="9418320" y="1325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faster reads from Redis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0.16 ms vs 1.24 ms</a:t>
            </a:r>
            <a:endParaRPr lang="en-US" sz="1500" dirty="0"/>
          </a:p>
        </p:txBody>
      </p:sp>
      <p:sp>
        <p:nvSpPr>
          <p:cNvPr id="8" name="card-42"/>
          <p:cNvSpPr/>
          <p:nvPr/>
        </p:nvSpPr>
        <p:spPr>
          <a:xfrm>
            <a:off x="7589520" y="2569464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-43"/>
          <p:cNvSpPr txBox="1"/>
          <p:nvPr/>
        </p:nvSpPr>
        <p:spPr>
          <a:xfrm>
            <a:off x="7772400" y="2569464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4.8×</a:t>
            </a:r>
            <a:endParaRPr lang="en-US" sz="3000" dirty="0"/>
          </a:p>
        </p:txBody>
      </p:sp>
      <p:sp>
        <p:nvSpPr>
          <p:cNvPr id="10" name="text-44"/>
          <p:cNvSpPr txBox="1"/>
          <p:nvPr/>
        </p:nvSpPr>
        <p:spPr>
          <a:xfrm>
            <a:off x="9418320" y="2569464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faster while writes run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Postgres reads slow 1.8× under write load</a:t>
            </a:r>
            <a:endParaRPr lang="en-US" sz="1500" dirty="0"/>
          </a:p>
        </p:txBody>
      </p:sp>
      <p:sp>
        <p:nvSpPr>
          <p:cNvPr id="11" name="card-45"/>
          <p:cNvSpPr/>
          <p:nvPr/>
        </p:nvSpPr>
        <p:spPr>
          <a:xfrm>
            <a:off x="7589520" y="3813048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46"/>
          <p:cNvSpPr txBox="1"/>
          <p:nvPr/>
        </p:nvSpPr>
        <p:spPr>
          <a:xfrm>
            <a:off x="7772400" y="3813048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~120 ms</a:t>
            </a:r>
            <a:endParaRPr lang="en-US" sz="3000" dirty="0"/>
          </a:p>
        </p:txBody>
      </p:sp>
      <p:sp>
        <p:nvSpPr>
          <p:cNvPr id="13" name="text-47"/>
          <p:cNvSpPr txBox="1"/>
          <p:nvPr/>
        </p:nvSpPr>
        <p:spPr>
          <a:xfrm>
            <a:off x="9418320" y="381304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commit → visible in Redis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median, end to end</a:t>
            </a:r>
            <a:endParaRPr lang="en-US" sz="1500" dirty="0"/>
          </a:p>
        </p:txBody>
      </p:sp>
      <p:sp>
        <p:nvSpPr>
          <p:cNvPr id="14" name="card-48"/>
          <p:cNvSpPr/>
          <p:nvPr/>
        </p:nvSpPr>
        <p:spPr>
          <a:xfrm>
            <a:off x="7589520" y="5056632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49"/>
          <p:cNvSpPr txBox="1"/>
          <p:nvPr/>
        </p:nvSpPr>
        <p:spPr>
          <a:xfrm>
            <a:off x="7772400" y="5056632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-50"/>
          <p:cNvSpPr txBox="1"/>
          <p:nvPr/>
        </p:nvSpPr>
        <p:spPr>
          <a:xfrm>
            <a:off x="9418320" y="505663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differences PostgreSQL vs Redis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consistency check, all orders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Fault Tolerance: Losing a Kafka Broker</a:t>
            </a:r>
            <a:endParaRPr lang="en-US" sz="3400" dirty="0"/>
          </a:p>
        </p:txBody>
      </p:sp>
      <p:sp>
        <p:nvSpPr>
          <p:cNvPr id="3" name="card-5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5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5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54"/>
          <p:cNvSpPr txBox="1"/>
          <p:nvPr/>
        </p:nvSpPr>
        <p:spPr>
          <a:xfrm>
            <a:off x="77724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 3 brokers 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 orders placed, 10/10 in Redis</a:t>
            </a:r>
            <a:endParaRPr lang="en-US" sz="1600" dirty="0"/>
          </a:p>
        </p:txBody>
      </p:sp>
      <p:sp>
        <p:nvSpPr>
          <p:cNvPr id="7" name="card-55"/>
          <p:cNvSpPr/>
          <p:nvPr/>
        </p:nvSpPr>
        <p:spPr>
          <a:xfrm>
            <a:off x="3337560" y="13258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-56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57"/>
          <p:cNvSpPr txBox="1"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58"/>
          <p:cNvSpPr txBox="1"/>
          <p:nvPr/>
        </p:nvSpPr>
        <p:spPr>
          <a:xfrm>
            <a:off x="356616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Stop broker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105 partitions under-replicated, 2 copies left</a:t>
            </a:r>
            <a:endParaRPr lang="en-US" sz="1600" dirty="0"/>
          </a:p>
        </p:txBody>
      </p:sp>
      <p:sp>
        <p:nvSpPr>
          <p:cNvPr id="11" name="card-59"/>
          <p:cNvSpPr/>
          <p:nvPr/>
        </p:nvSpPr>
        <p:spPr>
          <a:xfrm>
            <a:off x="6126480" y="13258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-60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61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62"/>
          <p:cNvSpPr txBox="1"/>
          <p:nvPr/>
        </p:nvSpPr>
        <p:spPr>
          <a:xfrm>
            <a:off x="635508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Keep writing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 orders placed, 20/20 reached Redis</a:t>
            </a:r>
            <a:endParaRPr lang="en-US" sz="1600" dirty="0"/>
          </a:p>
        </p:txBody>
      </p:sp>
      <p:sp>
        <p:nvSpPr>
          <p:cNvPr id="15" name="card-63"/>
          <p:cNvSpPr/>
          <p:nvPr/>
        </p:nvSpPr>
        <p:spPr>
          <a:xfrm>
            <a:off x="8915400" y="13258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64"/>
          <p:cNvSpPr/>
          <p:nvPr/>
        </p:nvSpPr>
        <p:spPr>
          <a:xfrm>
            <a:off x="914400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65"/>
          <p:cNvSpPr txBox="1"/>
          <p:nvPr/>
        </p:nvSpPr>
        <p:spPr>
          <a:xfrm>
            <a:off x="9144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-66"/>
          <p:cNvSpPr txBox="1"/>
          <p:nvPr/>
        </p:nvSpPr>
        <p:spPr>
          <a:xfrm>
            <a:off x="914400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Restart broker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fully re-replicated in 15 s</a:t>
            </a:r>
            <a:endParaRPr lang="en-US" sz="1600" dirty="0"/>
          </a:p>
        </p:txBody>
      </p:sp>
      <p:sp>
        <p:nvSpPr>
          <p:cNvPr id="19" name="card-67"/>
          <p:cNvSpPr/>
          <p:nvPr/>
        </p:nvSpPr>
        <p:spPr>
          <a:xfrm>
            <a:off x="548640" y="3611880"/>
            <a:ext cx="4572000" cy="260604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68"/>
          <p:cNvSpPr txBox="1"/>
          <p:nvPr/>
        </p:nvSpPr>
        <p:spPr>
          <a:xfrm>
            <a:off x="822960" y="361188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30 / 30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orders survived a broker failure. Zero events lost.</a:t>
            </a:r>
            <a:endParaRPr lang="en-US" sz="5400" dirty="0"/>
          </a:p>
        </p:txBody>
      </p:sp>
      <p:sp>
        <p:nvSpPr>
          <p:cNvPr id="21" name="check-69"/>
          <p:cNvSpPr/>
          <p:nvPr/>
        </p:nvSpPr>
        <p:spPr>
          <a:xfrm>
            <a:off x="5440680" y="3703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-70"/>
          <p:cNvSpPr txBox="1"/>
          <p:nvPr/>
        </p:nvSpPr>
        <p:spPr>
          <a:xfrm>
            <a:off x="54406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-71"/>
          <p:cNvSpPr txBox="1"/>
          <p:nvPr/>
        </p:nvSpPr>
        <p:spPr>
          <a:xfrm>
            <a:off x="5989320" y="365760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Replication factor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topic is copied to all three brokers</a:t>
            </a:r>
            <a:endParaRPr lang="en-US" sz="1600" dirty="0"/>
          </a:p>
        </p:txBody>
      </p:sp>
      <p:sp>
        <p:nvSpPr>
          <p:cNvPr id="24" name="check-72"/>
          <p:cNvSpPr/>
          <p:nvPr/>
        </p:nvSpPr>
        <p:spPr>
          <a:xfrm>
            <a:off x="5440680" y="4572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73"/>
          <p:cNvSpPr txBox="1"/>
          <p:nvPr/>
        </p:nvSpPr>
        <p:spPr>
          <a:xfrm>
            <a:off x="54406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6" name="text-74"/>
          <p:cNvSpPr txBox="1"/>
          <p:nvPr/>
        </p:nvSpPr>
        <p:spPr>
          <a:xfrm>
            <a:off x="5989320" y="452628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min.insync.replicas = 2, acks = all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write counts only once 2 brokers have it</a:t>
            </a:r>
            <a:endParaRPr lang="en-US" sz="1600" dirty="0"/>
          </a:p>
        </p:txBody>
      </p:sp>
      <p:sp>
        <p:nvSpPr>
          <p:cNvPr id="27" name="check-75"/>
          <p:cNvSpPr/>
          <p:nvPr/>
        </p:nvSpPr>
        <p:spPr>
          <a:xfrm>
            <a:off x="5440680" y="5440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76"/>
          <p:cNvSpPr txBox="1"/>
          <p:nvPr/>
        </p:nvSpPr>
        <p:spPr>
          <a:xfrm>
            <a:off x="544068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ext-77"/>
          <p:cNvSpPr txBox="1"/>
          <p:nvPr/>
        </p:nvSpPr>
        <p:spPr>
          <a:xfrm>
            <a:off x="5989320" y="539496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At-least-once + idempotent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offsets commit after Redis; replays are harmless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Monitoring: Prometheus + Grafana</a:t>
            </a:r>
            <a:endParaRPr lang="en-US" sz="3400" dirty="0"/>
          </a:p>
        </p:txBody>
      </p:sp>
      <p:pic>
        <p:nvPicPr>
          <p:cNvPr id="3" name="grafana-dashboard" descr="Grafana dashboard: change events per second, commit to Redis latency, Kafka consumer lag, Redis hit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3492151"/>
          </a:xfrm>
          <a:prstGeom prst="rect">
            <a:avLst/>
          </a:prstGeom>
        </p:spPr>
      </p:pic>
      <p:sp>
        <p:nvSpPr>
          <p:cNvPr id="4" name="check-78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79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-80"/>
          <p:cNvSpPr txBox="1"/>
          <p:nvPr/>
        </p:nvSpPr>
        <p:spPr>
          <a:xfrm>
            <a:off x="1097280" y="4892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Kafka consumer lag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events in Kafka not yet in Redis; spikes drain back to 0</a:t>
            </a:r>
            <a:endParaRPr lang="en-US" sz="1600" dirty="0"/>
          </a:p>
        </p:txBody>
      </p:sp>
      <p:sp>
        <p:nvSpPr>
          <p:cNvPr id="7" name="check-81"/>
          <p:cNvSpPr/>
          <p:nvPr/>
        </p:nvSpPr>
        <p:spPr>
          <a:xfrm>
            <a:off x="4297680" y="4937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82"/>
          <p:cNvSpPr txBox="1"/>
          <p:nvPr/>
        </p:nvSpPr>
        <p:spPr>
          <a:xfrm>
            <a:off x="42976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-83"/>
          <p:cNvSpPr txBox="1"/>
          <p:nvPr/>
        </p:nvSpPr>
        <p:spPr>
          <a:xfrm>
            <a:off x="4846320" y="4892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Redis hit rate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98.9% of key lookups found a key</a:t>
            </a:r>
            <a:endParaRPr lang="en-US" sz="1600" dirty="0"/>
          </a:p>
        </p:txBody>
      </p:sp>
      <p:sp>
        <p:nvSpPr>
          <p:cNvPr id="10" name="check-84"/>
          <p:cNvSpPr/>
          <p:nvPr/>
        </p:nvSpPr>
        <p:spPr>
          <a:xfrm>
            <a:off x="8046720" y="4937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85"/>
          <p:cNvSpPr txBox="1"/>
          <p:nvPr/>
        </p:nvSpPr>
        <p:spPr>
          <a:xfrm>
            <a:off x="804672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-86"/>
          <p:cNvSpPr txBox="1"/>
          <p:nvPr/>
        </p:nvSpPr>
        <p:spPr>
          <a:xfrm>
            <a:off x="8595360" y="4892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Commit → Redis latency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p50 ≈ 90 ms, p95 ≈ 210 ms under simulated load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and Kubernetes</a:t>
            </a:r>
            <a:endParaRPr lang="en-US" sz="3400" dirty="0"/>
          </a:p>
        </p:txBody>
      </p:sp>
      <p:sp>
        <p:nvSpPr>
          <p:cNvPr id="3" name="card-87"/>
          <p:cNvSpPr/>
          <p:nvPr/>
        </p:nvSpPr>
        <p:spPr>
          <a:xfrm>
            <a:off x="548640" y="1325880"/>
            <a:ext cx="539496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88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Least-privilege database roles</a:t>
            </a:r>
            <a:endParaRPr lang="en-US" sz="1800" dirty="0"/>
          </a:p>
        </p:txBody>
      </p:sp>
      <p:graphicFrame>
        <p:nvGraphicFramePr>
          <p:cNvPr id="8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49377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574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Cannot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app_writer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SELECT, INSERT, UPDATE, DELETE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DROP or ALTER tables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debezium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SELECT + REPLICATION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change any data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cdcuser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owns the schema (setup only)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-89"/>
          <p:cNvSpPr txBox="1"/>
          <p:nvPr/>
        </p:nvSpPr>
        <p:spPr>
          <a:xfrm>
            <a:off x="77724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Tested: app_writer gets "must be owner of table" on DROP; debezium gets "permission denied" on UPDATE.</a:t>
            </a:r>
            <a:endParaRPr lang="en-US" sz="1400" dirty="0"/>
          </a:p>
        </p:txBody>
      </p:sp>
      <p:sp>
        <p:nvSpPr>
          <p:cNvPr id="7" name="text-90"/>
          <p:cNvSpPr txBox="1"/>
          <p:nvPr/>
        </p:nvSpPr>
        <p:spPr>
          <a:xfrm>
            <a:off x="77724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Passwords live in a Kubernetes Secret, not in pod specs.</a:t>
            </a:r>
            <a:endParaRPr lang="en-US" sz="1400" dirty="0"/>
          </a:p>
        </p:txBody>
      </p:sp>
      <p:sp>
        <p:nvSpPr>
          <p:cNvPr id="8" name="text-91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Kubernetes, verified on a real cluster (k3s)</a:t>
            </a:r>
            <a:endParaRPr lang="en-US" sz="1800" dirty="0"/>
          </a:p>
        </p:txBody>
      </p:sp>
      <p:sp>
        <p:nvSpPr>
          <p:cNvPr id="9" name="check-92"/>
          <p:cNvSpPr/>
          <p:nvPr/>
        </p:nvSpPr>
        <p:spPr>
          <a:xfrm>
            <a:off x="626364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93"/>
          <p:cNvSpPr txBox="1"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-94"/>
          <p:cNvSpPr txBox="1"/>
          <p:nvPr/>
        </p:nvSpPr>
        <p:spPr>
          <a:xfrm>
            <a:off x="6812280" y="19659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12 pods running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Postgres StatefulSet + PVC, Kafka, Connect, Redis, apps</a:t>
            </a:r>
            <a:endParaRPr lang="en-US" sz="1600" dirty="0"/>
          </a:p>
        </p:txBody>
      </p:sp>
      <p:sp>
        <p:nvSpPr>
          <p:cNvPr id="12" name="check-95"/>
          <p:cNvSpPr/>
          <p:nvPr/>
        </p:nvSpPr>
        <p:spPr>
          <a:xfrm>
            <a:off x="6263640" y="3081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96"/>
          <p:cNvSpPr txBox="1"/>
          <p:nvPr/>
        </p:nvSpPr>
        <p:spPr>
          <a:xfrm>
            <a:off x="62636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-97"/>
          <p:cNvSpPr txBox="1"/>
          <p:nvPr/>
        </p:nvSpPr>
        <p:spPr>
          <a:xfrm>
            <a:off x="6812280" y="303580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/ 15 tests passed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end-to-end suite, run against the cluster</a:t>
            </a:r>
            <a:endParaRPr lang="en-US" sz="1600" dirty="0"/>
          </a:p>
        </p:txBody>
      </p:sp>
      <p:sp>
        <p:nvSpPr>
          <p:cNvPr id="15" name="check-98"/>
          <p:cNvSpPr/>
          <p:nvPr/>
        </p:nvSpPr>
        <p:spPr>
          <a:xfrm>
            <a:off x="6263640" y="41513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99"/>
          <p:cNvSpPr txBox="1"/>
          <p:nvPr/>
        </p:nvSpPr>
        <p:spPr>
          <a:xfrm>
            <a:off x="62636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-100"/>
          <p:cNvSpPr txBox="1"/>
          <p:nvPr/>
        </p:nvSpPr>
        <p:spPr>
          <a:xfrm>
            <a:off x="6812280" y="4105656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NetworkPolicies enforced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read-api → Postgres blocked, frontend → Redis blocked</a:t>
            </a:r>
            <a:endParaRPr lang="en-US" sz="1600" dirty="0"/>
          </a:p>
        </p:txBody>
      </p:sp>
      <p:sp>
        <p:nvSpPr>
          <p:cNvPr id="18" name="check-101"/>
          <p:cNvSpPr/>
          <p:nvPr/>
        </p:nvSpPr>
        <p:spPr>
          <a:xfrm>
            <a:off x="6263640" y="52212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102"/>
          <p:cNvSpPr txBox="1"/>
          <p:nvPr/>
        </p:nvSpPr>
        <p:spPr>
          <a:xfrm>
            <a:off x="626364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-103"/>
          <p:cNvSpPr txBox="1"/>
          <p:nvPr/>
        </p:nvSpPr>
        <p:spPr>
          <a:xfrm>
            <a:off x="6812280" y="5175504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Autoscaling works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HPA scaled the consumer 2 → 3 replicas under load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2: Work Completed</a:t>
            </a:r>
            <a:endParaRPr lang="en-US" sz="3400" dirty="0"/>
          </a:p>
        </p:txBody>
      </p:sp>
      <p:sp>
        <p:nvSpPr>
          <p:cNvPr id="3" name="card-104"/>
          <p:cNvSpPr/>
          <p:nvPr/>
        </p:nvSpPr>
        <p:spPr>
          <a:xfrm>
            <a:off x="548640" y="13258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eck-105"/>
          <p:cNvSpPr/>
          <p:nvPr/>
        </p:nvSpPr>
        <p:spPr>
          <a:xfrm>
            <a:off x="777240" y="15819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06"/>
          <p:cNvSpPr txBox="1"/>
          <p:nvPr/>
        </p:nvSpPr>
        <p:spPr>
          <a:xfrm>
            <a:off x="77724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-107"/>
          <p:cNvSpPr txBox="1"/>
          <p:nvPr/>
        </p:nvSpPr>
        <p:spPr>
          <a:xfrm>
            <a:off x="128016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Benchmarking</a:t>
            </a:r>
            <a:endParaRPr lang="en-US" sz="1800" dirty="0"/>
          </a:p>
        </p:txBody>
      </p:sp>
      <p:sp>
        <p:nvSpPr>
          <p:cNvPr id="7" name="text-108"/>
          <p:cNvSpPr txBox="1"/>
          <p:nvPr/>
        </p:nvSpPr>
        <p:spPr>
          <a:xfrm>
            <a:off x="777240" y="20756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Postgres JOIN vs Redis: 7.9× faster, 4.8× under write load</a:t>
            </a:r>
            <a:endParaRPr lang="en-US" sz="1400" dirty="0"/>
          </a:p>
        </p:txBody>
      </p:sp>
      <p:sp>
        <p:nvSpPr>
          <p:cNvPr id="8" name="card-109"/>
          <p:cNvSpPr/>
          <p:nvPr/>
        </p:nvSpPr>
        <p:spPr>
          <a:xfrm>
            <a:off x="4297680" y="13258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eck-110"/>
          <p:cNvSpPr/>
          <p:nvPr/>
        </p:nvSpPr>
        <p:spPr>
          <a:xfrm>
            <a:off x="4526280" y="15819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11"/>
          <p:cNvSpPr txBox="1"/>
          <p:nvPr/>
        </p:nvSpPr>
        <p:spPr>
          <a:xfrm>
            <a:off x="452628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-112"/>
          <p:cNvSpPr txBox="1"/>
          <p:nvPr/>
        </p:nvSpPr>
        <p:spPr>
          <a:xfrm>
            <a:off x="502920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2" name="text-113"/>
          <p:cNvSpPr txBox="1"/>
          <p:nvPr/>
        </p:nvSpPr>
        <p:spPr>
          <a:xfrm>
            <a:off x="4526280" y="20756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Prometheus + Grafana: Kafka lag, Redis hit rate, latency</a:t>
            </a:r>
            <a:endParaRPr lang="en-US" sz="1400" dirty="0"/>
          </a:p>
        </p:txBody>
      </p:sp>
      <p:sp>
        <p:nvSpPr>
          <p:cNvPr id="13" name="card-114"/>
          <p:cNvSpPr/>
          <p:nvPr/>
        </p:nvSpPr>
        <p:spPr>
          <a:xfrm>
            <a:off x="8046720" y="13258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eck-115"/>
          <p:cNvSpPr/>
          <p:nvPr/>
        </p:nvSpPr>
        <p:spPr>
          <a:xfrm>
            <a:off x="8275320" y="15819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116"/>
          <p:cNvSpPr txBox="1"/>
          <p:nvPr/>
        </p:nvSpPr>
        <p:spPr>
          <a:xfrm>
            <a:off x="827532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-117"/>
          <p:cNvSpPr txBox="1"/>
          <p:nvPr/>
        </p:nvSpPr>
        <p:spPr>
          <a:xfrm>
            <a:off x="877824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</a:t>
            </a:r>
            <a:endParaRPr lang="en-US" sz="1800" dirty="0"/>
          </a:p>
        </p:txBody>
      </p:sp>
      <p:sp>
        <p:nvSpPr>
          <p:cNvPr id="17" name="text-118"/>
          <p:cNvSpPr txBox="1"/>
          <p:nvPr/>
        </p:nvSpPr>
        <p:spPr>
          <a:xfrm>
            <a:off x="8275320" y="20756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least-privilege DB roles, Secrets, enforced NetworkPolicies</a:t>
            </a:r>
            <a:endParaRPr lang="en-US" sz="1400" dirty="0"/>
          </a:p>
        </p:txBody>
      </p:sp>
      <p:sp>
        <p:nvSpPr>
          <p:cNvPr id="18" name="card-119"/>
          <p:cNvSpPr/>
          <p:nvPr/>
        </p:nvSpPr>
        <p:spPr>
          <a:xfrm>
            <a:off x="54864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heck-120"/>
          <p:cNvSpPr/>
          <p:nvPr/>
        </p:nvSpPr>
        <p:spPr>
          <a:xfrm>
            <a:off x="777240" y="33649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121"/>
          <p:cNvSpPr txBox="1"/>
          <p:nvPr/>
        </p:nvSpPr>
        <p:spPr>
          <a:xfrm>
            <a:off x="77724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-122"/>
          <p:cNvSpPr txBox="1"/>
          <p:nvPr/>
        </p:nvSpPr>
        <p:spPr>
          <a:xfrm>
            <a:off x="128016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Scaling</a:t>
            </a:r>
            <a:endParaRPr lang="en-US" sz="1800" dirty="0"/>
          </a:p>
        </p:txBody>
      </p:sp>
      <p:sp>
        <p:nvSpPr>
          <p:cNvPr id="22" name="text-123"/>
          <p:cNvSpPr txBox="1"/>
          <p:nvPr/>
        </p:nvSpPr>
        <p:spPr>
          <a:xfrm>
            <a:off x="777240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consumer group + HPA: 2 → 3 replicas, Kafka rebalances</a:t>
            </a:r>
            <a:endParaRPr lang="en-US" sz="1400" dirty="0"/>
          </a:p>
        </p:txBody>
      </p:sp>
      <p:sp>
        <p:nvSpPr>
          <p:cNvPr id="23" name="card-124"/>
          <p:cNvSpPr/>
          <p:nvPr/>
        </p:nvSpPr>
        <p:spPr>
          <a:xfrm>
            <a:off x="429768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heck-125"/>
          <p:cNvSpPr/>
          <p:nvPr/>
        </p:nvSpPr>
        <p:spPr>
          <a:xfrm>
            <a:off x="4526280" y="33649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126"/>
          <p:cNvSpPr txBox="1"/>
          <p:nvPr/>
        </p:nvSpPr>
        <p:spPr>
          <a:xfrm>
            <a:off x="45262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26" name="text-127"/>
          <p:cNvSpPr txBox="1"/>
          <p:nvPr/>
        </p:nvSpPr>
        <p:spPr>
          <a:xfrm>
            <a:off x="502920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Fault tolerance</a:t>
            </a:r>
            <a:endParaRPr lang="en-US" sz="1800" dirty="0"/>
          </a:p>
        </p:txBody>
      </p:sp>
      <p:sp>
        <p:nvSpPr>
          <p:cNvPr id="27" name="text-128"/>
          <p:cNvSpPr txBox="1"/>
          <p:nvPr/>
        </p:nvSpPr>
        <p:spPr>
          <a:xfrm>
            <a:off x="4526280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Kafka brokers, RF 3: 30/30 orders survive a broker loss</a:t>
            </a:r>
            <a:endParaRPr lang="en-US" sz="1400" dirty="0"/>
          </a:p>
        </p:txBody>
      </p:sp>
      <p:sp>
        <p:nvSpPr>
          <p:cNvPr id="28" name="card-129"/>
          <p:cNvSpPr/>
          <p:nvPr/>
        </p:nvSpPr>
        <p:spPr>
          <a:xfrm>
            <a:off x="804672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heck-130"/>
          <p:cNvSpPr/>
          <p:nvPr/>
        </p:nvSpPr>
        <p:spPr>
          <a:xfrm>
            <a:off x="8275320" y="33649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131"/>
          <p:cNvSpPr txBox="1"/>
          <p:nvPr/>
        </p:nvSpPr>
        <p:spPr>
          <a:xfrm>
            <a:off x="827532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31" name="text-132"/>
          <p:cNvSpPr txBox="1"/>
          <p:nvPr/>
        </p:nvSpPr>
        <p:spPr>
          <a:xfrm>
            <a:off x="877824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Testing</a:t>
            </a:r>
            <a:endParaRPr lang="en-US" sz="1800" dirty="0"/>
          </a:p>
        </p:txBody>
      </p:sp>
      <p:sp>
        <p:nvSpPr>
          <p:cNvPr id="32" name="text-133"/>
          <p:cNvSpPr txBox="1"/>
          <p:nvPr/>
        </p:nvSpPr>
        <p:spPr>
          <a:xfrm>
            <a:off x="8275320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 end-to-end tests + failover test, on Docker and Kubernetes</a:t>
            </a:r>
            <a:endParaRPr lang="en-US" sz="1400" dirty="0"/>
          </a:p>
        </p:txBody>
      </p:sp>
      <p:sp>
        <p:nvSpPr>
          <p:cNvPr id="33" name="card-134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-135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Single source of truth + CDC + Redis read model = scalable, consistent and fault-tolerant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C Review">
  <a:themeElements>
    <a:clrScheme name="CDC Review">
      <a:dk1>
        <a:srgbClr val="1B1F2A"/>
      </a:dk1>
      <a:lt1>
        <a:srgbClr val="FFFFFF"/>
      </a:lt1>
      <a:dk2>
        <a:srgbClr val="5B6576"/>
      </a:dk2>
      <a:lt2>
        <a:srgbClr val="F3F4F6"/>
      </a:lt2>
      <a:accent1>
        <a:srgbClr val="1F5AA6"/>
      </a:accent1>
      <a:accent2>
        <a:srgbClr val="E1E2EC"/>
      </a:accent2>
      <a:accent3>
        <a:srgbClr val="2E7D5B"/>
      </a:accent3>
      <a:accent4>
        <a:srgbClr val="8A94A6"/>
      </a:accent4>
      <a:accent5>
        <a:srgbClr val="B4321F"/>
      </a:accent5>
      <a:accent6>
        <a:srgbClr val="0F766E"/>
      </a:accent6>
      <a:hlink>
        <a:srgbClr val="1F5AA6"/>
      </a:hlink>
      <a:folHlink>
        <a:srgbClr val="5B6576"/>
      </a:folHlink>
    </a:clrScheme>
    <a:fontScheme name="CDC Review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Pipeline: Review 2 updates</dc:title>
  <dc:subject>PptxGenJS Presentation</dc:subject>
  <dc:creator>PptxGenJS</dc:creator>
  <cp:lastModifiedBy>PptxGenJS</cp:lastModifiedBy>
  <cp:revision>1</cp:revision>
  <dcterms:created xsi:type="dcterms:W3CDTF">2026-10-15T06:14:45Z</dcterms:created>
  <dcterms:modified xsi:type="dcterms:W3CDTF">2026-10-15T06:14:45Z</dcterms:modified>
</cp:coreProperties>
</file>